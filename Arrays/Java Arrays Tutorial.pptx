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9718" y="1758315"/>
            <a:ext cx="32844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Arrays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400952" y="2596515"/>
            <a:ext cx="4341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Arrays for B.Tech Students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98941" y="3145155"/>
            <a:ext cx="31460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Year | Core Programming Concepts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Hostel Cupboard Story 📚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first-year student had 5 books scattered everywhere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bought a cupboard with 5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slots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0 = Maths, Slot 1 = Physics, Slot 2 = Chemistry, Slot 3 = Java, Slot 4 = English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finding any book is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and organized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cupboard is like an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Java!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Array?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elements of the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data type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size, stored in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contiguous memory locations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Elements accessed by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(0-based)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from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to size-1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cupboard: each slot holds one value, numbered 0 onwards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77340"/>
            <a:ext cx="7924800" cy="676632"/>
          </a:xfrm>
          <a:prstGeom prst="roundRect">
            <a:avLst>
              <a:gd name="adj" fmla="val 108112"/>
            </a:avLst>
          </a:prstGeom>
          <a:solidFill>
            <a:srgbClr val="1E293B"/>
          </a:solidFill>
          <a:ln/>
        </p:spPr>
        <p:txBody>
          <a:bodyPr wrap="square" lIns="228600" tIns="228600" rIns="228600" bIns="22860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arr;  // Just declaring, no cupboard yet</a:t>
            </a:r>
            <a:endParaRPr lang="en-US" sz="1080" dirty="0"/>
          </a:p>
        </p:txBody>
      </p:sp>
      <p:sp>
        <p:nvSpPr>
          <p:cNvPr id="3" name="Text 1"/>
          <p:cNvSpPr/>
          <p:nvPr/>
        </p:nvSpPr>
        <p:spPr>
          <a:xfrm>
            <a:off x="609600" y="2695932"/>
            <a:ext cx="7924800" cy="676632"/>
          </a:xfrm>
          <a:prstGeom prst="roundRect">
            <a:avLst>
              <a:gd name="adj" fmla="val 108112"/>
            </a:avLst>
          </a:prstGeom>
          <a:solidFill>
            <a:srgbClr val="1E293B"/>
          </a:solidFill>
          <a:ln/>
        </p:spPr>
        <p:txBody>
          <a:bodyPr wrap="square" lIns="228600" tIns="228600" rIns="228600" bIns="22860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arr = new int[5];  // Cupboard with 5 slots created!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609600" y="3814525"/>
            <a:ext cx="7924800" cy="676632"/>
          </a:xfrm>
          <a:prstGeom prst="roundRect">
            <a:avLst>
              <a:gd name="adj" fmla="val 108112"/>
            </a:avLst>
          </a:prstGeom>
          <a:solidFill>
            <a:srgbClr val="1E293B"/>
          </a:solidFill>
          <a:ln/>
        </p:spPr>
        <p:txBody>
          <a:bodyPr wrap="square" lIns="228600" tIns="228600" rIns="228600" bIns="22860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arr = {10, 20, 30, 40, 50};  // 5 slots filled immediately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Declaring Arrays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24968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1: Declaration only (no memory yet)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368273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2: Declaration + Allocate memory (new keyword)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486865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3: Declaration + Values (direct initialization)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211830"/>
            <a:ext cx="7924800" cy="676632"/>
          </a:xfrm>
          <a:prstGeom prst="roundRect">
            <a:avLst>
              <a:gd name="adj" fmla="val 108112"/>
            </a:avLst>
          </a:prstGeom>
          <a:solidFill>
            <a:srgbClr val="1E293B"/>
          </a:solidFill>
          <a:ln/>
        </p:spPr>
        <p:txBody>
          <a:bodyPr wrap="square" lIns="228600" tIns="228600" rIns="228600" bIns="22860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arr[0] = 10;  // Put 10 in slot 0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arr[3] = 40;  // Put 40 in slot 3</a:t>
            </a:r>
            <a:endParaRPr lang="en-US" sz="1080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Initializing Arrays (Filling Slots)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8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Values: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615441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Integers → 0 (all slots start empty)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Booleans → false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 → null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92227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one slot: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2432090"/>
          </a:xfrm>
          <a:prstGeom prst="roundRect">
            <a:avLst>
              <a:gd name="adj" fmla="val 30078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Accessing Array Elements (Reading from Slots)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80"/>
            <a:ext cx="7924800" cy="2432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scores = {12, 4, 5, 2, 5}; // 5 slots: 0,1,2,3,4</a:t>
            </a:r>
            <a:endParaRPr lang="en-US" sz="108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Read from slots using index</a:t>
            </a:r>
            <a:endParaRPr lang="en-US" sz="108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System.out.println(scores[0]); // Slot 0 → Output: 12</a:t>
            </a:r>
            <a:endParaRPr lang="en-US" sz="108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System.out.println(scores[2]); // Slot 2 → Output: 5</a:t>
            </a:r>
            <a:endParaRPr lang="en-US" sz="108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System.out.println(scores[4]); // Slot 4 → Output: 5</a:t>
            </a:r>
            <a:endParaRPr lang="en-US" sz="108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Get total number of slots</a:t>
            </a:r>
            <a:endParaRPr lang="en-US" sz="108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System.out.println(scores.length); // Output: 5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609600" y="3796071"/>
            <a:ext cx="8083296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Remember: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First slot is index 0, not 1!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77341"/>
            <a:ext cx="7924800" cy="1078706"/>
          </a:xfrm>
          <a:prstGeom prst="roundRect">
            <a:avLst>
              <a:gd name="adj" fmla="val 67815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98006"/>
            <a:ext cx="7924800" cy="1078706"/>
          </a:xfrm>
          <a:prstGeom prst="roundRect">
            <a:avLst>
              <a:gd name="adj" fmla="val 67815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Looping: Reading All Slots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24968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For Loop (when you need index):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1577341"/>
            <a:ext cx="7924800" cy="1078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for(int i = 0; i &lt; arr.length; i++) {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System.out.println("Slot " + i + ": " + arr[i]);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09600" y="2770347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For Loop (simpler, when you just need values):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098006"/>
            <a:ext cx="7924800" cy="1078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for(int num : arr) { // num gets each value automatically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System.out.println(num);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609600" y="4291013"/>
            <a:ext cx="8083296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&lt; not &lt;= in traditional loop!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43100"/>
            <a:ext cx="7924800" cy="1078706"/>
          </a:xfrm>
          <a:prstGeom prst="roundRect">
            <a:avLst>
              <a:gd name="adj" fmla="val 67815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Mistake 1: Forgetting 0-Based Indexing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8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thinking: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"Array of 5 elements: slots 1, 2, 3, 4, 5"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57734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thinking: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"Array of 5 elements: slots 0, 1, 2, 3, 4"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1943100"/>
            <a:ext cx="7924800" cy="1078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arr = {10, 20, 30, 40, 50}; // Size 5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System.out.println(arr[1]); // ❌ Student expects 10, gets 20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System.out.println(arr[5]); // ❌ CRASH! Index 5 doesn't exist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09600" y="3136106"/>
            <a:ext cx="8083296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Remember: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arr[0] = first element, arr[4] = last element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078706"/>
          </a:xfrm>
          <a:prstGeom prst="roundRect">
            <a:avLst>
              <a:gd name="adj" fmla="val 67815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808447"/>
            <a:ext cx="7924800" cy="1078706"/>
          </a:xfrm>
          <a:prstGeom prst="roundRect">
            <a:avLst>
              <a:gd name="adj" fmla="val 67815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Mistake 2: Index Out of Bounds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249682"/>
            <a:ext cx="7924800" cy="1078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marks = new int[5]; // Slots: 0, 1, 2, 3, 4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System.out.println(marks[5]); // ❌ CRASH! No slot 5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System.out.println(marks[10]); // ❌ CRASH! No slot 10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609600" y="2480788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808447"/>
            <a:ext cx="7924800" cy="1078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marks = new int[5]; // Slots: 0, 1, 2, 3, 4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System.out.println(marks[4]); // ✓ Last slot exists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System.out.println(marks[0]); // ✓ First slot exists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609600" y="4001453"/>
            <a:ext cx="8083296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 indices: 0 to length-1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77341"/>
            <a:ext cx="7924800" cy="1257300"/>
          </a:xfrm>
          <a:prstGeom prst="roundRect">
            <a:avLst>
              <a:gd name="adj" fmla="val 58182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276600"/>
            <a:ext cx="7924800" cy="1257300"/>
          </a:xfrm>
          <a:prstGeom prst="roundRect">
            <a:avLst>
              <a:gd name="adj" fmla="val 58182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Mistake 3: Off-by-One Error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24968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(&lt;= causes crash):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1577341"/>
            <a:ext cx="79248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arr = new int[5]; // Indices: 0,1,2,3,4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for(int i = 0; i &lt;= arr.length; i++) { // ❌ i=5 crashes!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System.out.println(arr[i]);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09600" y="294894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 (&lt; is safe):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276600"/>
            <a:ext cx="79248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arr = new int[5]; // Indices: 0,1,2,3,4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for(int i = 0; i &lt; arr.length; i++) { // ✓ Stops at 4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System.out.println(arr[i]);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77341"/>
            <a:ext cx="7924800" cy="1700213"/>
          </a:xfrm>
          <a:prstGeom prst="roundRect">
            <a:avLst>
              <a:gd name="adj" fmla="val 43025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Two-Dimensional Arrays (Matrix)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8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Cupboards stacked in rows and columns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577341"/>
            <a:ext cx="7924800" cy="1700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int[][] matrix = new int[3][4]; // 3 rows, 4 columns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int[][] matrix = {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{1, 2, 3},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{4, 5, 6}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};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77341"/>
            <a:ext cx="7924800" cy="2407444"/>
          </a:xfrm>
          <a:prstGeom prst="roundRect">
            <a:avLst>
              <a:gd name="adj" fmla="val 30386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Accessing 2D Arrays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8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row and column indices [row][column]: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577341"/>
            <a:ext cx="7924800" cy="24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int[][] matrix = {{1,2,3}, {4,5,6}};</a:t>
            </a:r>
            <a:endParaRPr lang="en-US" sz="960" dirty="0"/>
          </a:p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System.out.println(matrix[0][1]); // Row 0, Col 1 → 2</a:t>
            </a:r>
            <a:endParaRPr lang="en-US" sz="960" dirty="0"/>
          </a:p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System.out.println(matrix[1][2]); // Row 1, Col 2 → 6</a:t>
            </a:r>
            <a:endParaRPr lang="en-US" sz="960" dirty="0"/>
          </a:p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Nested loop to read all</a:t>
            </a:r>
            <a:endParaRPr lang="en-US" sz="960" dirty="0"/>
          </a:p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for(int i = 0; i &lt; matrix.length; i++) {</a:t>
            </a:r>
            <a:endParaRPr lang="en-US" sz="960" dirty="0"/>
          </a:p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for(int j = 0; j &lt; matrix[i].length; j++) {</a:t>
            </a:r>
            <a:endParaRPr lang="en-US" sz="960" dirty="0"/>
          </a:p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System.out.print(matrix[i][j] + " ");</a:t>
            </a:r>
            <a:endParaRPr lang="en-US" sz="960" dirty="0"/>
          </a:p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60" dirty="0"/>
          </a:p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Array Methods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607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Arrange in order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all slots with 5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and resize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quickly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2114550"/>
          </a:xfrm>
          <a:prstGeom prst="roundRect">
            <a:avLst>
              <a:gd name="adj" fmla="val 34595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Sum All Elements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82"/>
            <a:ext cx="79248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scores = {10, 20, 30, 40, 50};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sum = 0;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for(int score : scores) {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sum += score; // Add each slot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System.out.println("Total: " + sum); // Output: 150</a:t>
            </a:r>
            <a:endParaRPr lang="en-US" sz="10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2992517"/>
          </a:xfrm>
          <a:prstGeom prst="roundRect">
            <a:avLst>
              <a:gd name="adj" fmla="val 24445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Journey (Declaration → Looping)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82"/>
            <a:ext cx="7924800" cy="2992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1: DECLARE (choose cupboard size)</a:t>
            </a:r>
            <a:endParaRPr lang="en-US" sz="960" dirty="0"/>
          </a:p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int[] arr = new int[5];</a:t>
            </a:r>
            <a:endParaRPr lang="en-US" sz="960" dirty="0"/>
          </a:p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Step 2: INITIALIZE (fill slots)</a:t>
            </a:r>
            <a:endParaRPr lang="en-US" sz="960" dirty="0"/>
          </a:p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arr[0]=10; arr[1]=20; arr[2]=30; arr[3]=40; arr[4]=50;</a:t>
            </a:r>
            <a:endParaRPr lang="en-US" sz="960" dirty="0"/>
          </a:p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Step 3: ACCESS (read a slot)</a:t>
            </a:r>
            <a:endParaRPr lang="en-US" sz="960" dirty="0"/>
          </a:p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System.out.println(arr[2]); // Prints 30</a:t>
            </a:r>
            <a:endParaRPr lang="en-US" sz="960" dirty="0"/>
          </a:p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Step 4: LOOP (visit all slots)</a:t>
            </a:r>
            <a:endParaRPr lang="en-US" sz="960" dirty="0"/>
          </a:p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for(int i=0; i&lt;arr.length; i++) {</a:t>
            </a:r>
            <a:endParaRPr lang="en-US" sz="960" dirty="0"/>
          </a:p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System.out.println(arr[i]);</a:t>
            </a:r>
            <a:endParaRPr lang="en-US" sz="960" dirty="0"/>
          </a:p>
          <a:p>
            <a:pPr indent="0" marL="0">
              <a:lnSpc>
                <a:spcPts val="1536"/>
              </a:lnSpc>
              <a:buNone/>
            </a:pPr>
            <a:r>
              <a:rPr lang="en-US" sz="960" dirty="0">
                <a:solidFill>
                  <a:srgbClr val="A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Code: Checklist ✓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Declared array with correct size?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Initialized (filled) all slots you need?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Using index 0 to length-1 only?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Using &lt; (not &lt;=) in loop condition?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Using arr.length for the array size?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1804039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227376" y="2581275"/>
            <a:ext cx="26891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arrays through practice!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404805" y="3152775"/>
            <a:ext cx="233427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Doubt? Cupboard analogy will help 📚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2025-12-30T07:24:47Z</dcterms:created>
  <dcterms:modified xsi:type="dcterms:W3CDTF">2025-12-30T07:24:47Z</dcterms:modified>
</cp:coreProperties>
</file>