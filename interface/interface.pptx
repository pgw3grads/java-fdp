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20"/>
  </p:notesMasterIdLst>
  <p:sldIdLst>
    <p:sldId id="256" r:id="rId2"/>
    <p:sldId id="607" r:id="rId3"/>
    <p:sldId id="593" r:id="rId4"/>
    <p:sldId id="594" r:id="rId5"/>
    <p:sldId id="595" r:id="rId6"/>
    <p:sldId id="596" r:id="rId7"/>
    <p:sldId id="598" r:id="rId8"/>
    <p:sldId id="597" r:id="rId9"/>
    <p:sldId id="599" r:id="rId10"/>
    <p:sldId id="600" r:id="rId11"/>
    <p:sldId id="601" r:id="rId12"/>
    <p:sldId id="602" r:id="rId13"/>
    <p:sldId id="603" r:id="rId14"/>
    <p:sldId id="604" r:id="rId15"/>
    <p:sldId id="605" r:id="rId16"/>
    <p:sldId id="608" r:id="rId17"/>
    <p:sldId id="609" r:id="rId18"/>
    <p:sldId id="606"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024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02" autoAdjust="0"/>
    <p:restoredTop sz="79613" autoAdjust="0"/>
  </p:normalViewPr>
  <p:slideViewPr>
    <p:cSldViewPr>
      <p:cViewPr>
        <p:scale>
          <a:sx n="59" d="100"/>
          <a:sy n="59" d="100"/>
        </p:scale>
        <p:origin x="-156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CAA103-FA6F-4BA7-85DB-ECB7FF89B451}" type="datetimeFigureOut">
              <a:rPr lang="en-US" smtClean="0"/>
              <a:pPr/>
              <a:t>9/28/2021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9B9102-ABC0-4B3D-8EF1-04366C9A6F8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latin typeface="+mn-lt"/>
                <a:ea typeface="+mn-ea"/>
                <a:cs typeface="+mn-cs"/>
              </a:rPr>
              <a:t>The wiring and buttons circuits all are hidden from user known as abstraction. </a:t>
            </a:r>
            <a:endParaRPr lang="en-US" sz="1200" kern="120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1</a:t>
            </a:fld>
            <a:endParaRPr lang="en-US"/>
          </a:p>
        </p:txBody>
      </p:sp>
    </p:spTree>
    <p:extLst>
      <p:ext uri="{BB962C8B-B14F-4D97-AF65-F5344CB8AC3E}">
        <p14:creationId xmlns:p14="http://schemas.microsoft.com/office/powerpoint/2010/main" xmlns="" val="1078498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public, static and final </a:t>
            </a:r>
          </a:p>
          <a:p>
            <a:r>
              <a:rPr lang="en-US" dirty="0" smtClean="0"/>
              <a:t>// public and abstract  </a:t>
            </a:r>
            <a:endParaRPr lang="en-US"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https://www.javatpoint.com/interface-in-java</a:t>
            </a:r>
            <a:endParaRPr lang="en-US"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D6D326B5-21D9-43FD-9A2C-7A209D1AB87B}" type="datetimeFigureOut">
              <a:rPr lang="en-US" smtClean="0"/>
              <a:pPr/>
              <a:t>9/28/2021</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9A58F304-7EB6-4E9A-93BD-98FE11DF749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6D326B5-21D9-43FD-9A2C-7A209D1AB87B}" type="datetimeFigureOut">
              <a:rPr lang="en-US" smtClean="0"/>
              <a:pPr/>
              <a:t>9/28/2021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A58F304-7EB6-4E9A-93BD-98FE11DF7497}"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D6D326B5-21D9-43FD-9A2C-7A209D1AB87B}" type="datetimeFigureOut">
              <a:rPr lang="en-US" smtClean="0"/>
              <a:pPr/>
              <a:t>9/28/2021</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9A58F304-7EB6-4E9A-93BD-98FE11DF7497}"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D6D326B5-21D9-43FD-9A2C-7A209D1AB87B}" type="datetimeFigureOut">
              <a:rPr lang="en-US" smtClean="0"/>
              <a:pPr/>
              <a:t>9/28/2021</a:t>
            </a:fld>
            <a:endParaRPr lang="en-US"/>
          </a:p>
        </p:txBody>
      </p:sp>
      <p:sp>
        <p:nvSpPr>
          <p:cNvPr id="10" name="Slide Number Placeholder 9"/>
          <p:cNvSpPr>
            <a:spLocks noGrp="1"/>
          </p:cNvSpPr>
          <p:nvPr>
            <p:ph type="sldNum" sz="quarter" idx="16"/>
          </p:nvPr>
        </p:nvSpPr>
        <p:spPr/>
        <p:txBody>
          <a:bodyPr rtlCol="0"/>
          <a:lstStyle/>
          <a:p>
            <a:fld id="{9A58F304-7EB6-4E9A-93BD-98FE11DF7497}"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D6D326B5-21D9-43FD-9A2C-7A209D1AB87B}" type="datetimeFigureOut">
              <a:rPr lang="en-US" smtClean="0"/>
              <a:pPr/>
              <a:t>9/28/2021</a:t>
            </a:fld>
            <a:endParaRPr lang="en-US"/>
          </a:p>
        </p:txBody>
      </p:sp>
      <p:sp>
        <p:nvSpPr>
          <p:cNvPr id="12" name="Slide Number Placeholder 11"/>
          <p:cNvSpPr>
            <a:spLocks noGrp="1"/>
          </p:cNvSpPr>
          <p:nvPr>
            <p:ph type="sldNum" sz="quarter" idx="16"/>
          </p:nvPr>
        </p:nvSpPr>
        <p:spPr/>
        <p:txBody>
          <a:bodyPr rtlCol="0"/>
          <a:lstStyle/>
          <a:p>
            <a:fld id="{9A58F304-7EB6-4E9A-93BD-98FE11DF7497}"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6D326B5-21D9-43FD-9A2C-7A209D1AB87B}" type="datetimeFigureOut">
              <a:rPr lang="en-US" smtClean="0"/>
              <a:pPr/>
              <a:t>9/28/2021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9A58F304-7EB6-4E9A-93BD-98FE11DF749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326B5-21D9-43FD-9A2C-7A209D1AB87B}" type="datetimeFigureOut">
              <a:rPr lang="en-US" smtClean="0"/>
              <a:pPr/>
              <a:t>9/28/2021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9A58F304-7EB6-4E9A-93BD-98FE11DF749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6D326B5-21D9-43FD-9A2C-7A209D1AB87B}" type="datetimeFigureOut">
              <a:rPr lang="en-US" smtClean="0"/>
              <a:pPr/>
              <a:t>9/28/2021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9A58F304-7EB6-4E9A-93BD-98FE11DF7497}"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D6D326B5-21D9-43FD-9A2C-7A209D1AB87B}" type="datetimeFigureOut">
              <a:rPr lang="en-US" smtClean="0"/>
              <a:pPr/>
              <a:t>9/28/2021</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9A58F304-7EB6-4E9A-93BD-98FE11DF7497}"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D326B5-21D9-43FD-9A2C-7A209D1AB87B}" type="datetimeFigureOut">
              <a:rPr lang="en-US" smtClean="0"/>
              <a:pPr/>
              <a:t>9/28/2021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58F304-7EB6-4E9A-93BD-98FE11DF749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D6D326B5-21D9-43FD-9A2C-7A209D1AB87B}" type="datetimeFigureOut">
              <a:rPr lang="en-US" smtClean="0"/>
              <a:pPr/>
              <a:t>9/28/2021</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9A58F304-7EB6-4E9A-93BD-98FE11DF749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D6D326B5-21D9-43FD-9A2C-7A209D1AB87B}" type="datetimeFigureOut">
              <a:rPr lang="en-US" smtClean="0"/>
              <a:pPr/>
              <a:t>9/28/2021</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A58F304-7EB6-4E9A-93BD-98FE11DF749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26" name="Picture 2"/>
          <p:cNvPicPr>
            <a:picLocks noChangeAspect="1" noChangeArrowheads="1"/>
          </p:cNvPicPr>
          <p:nvPr/>
        </p:nvPicPr>
        <p:blipFill>
          <a:blip r:embed="rId3" cstate="print"/>
          <a:srcRect/>
          <a:stretch>
            <a:fillRect/>
          </a:stretch>
        </p:blipFill>
        <p:spPr bwMode="auto">
          <a:xfrm>
            <a:off x="76200" y="75773"/>
            <a:ext cx="1097280" cy="1143427"/>
          </a:xfrm>
          <a:prstGeom prst="rect">
            <a:avLst/>
          </a:prstGeom>
          <a:noFill/>
          <a:ln w="9525">
            <a:noFill/>
            <a:miter lim="800000"/>
            <a:headEnd/>
            <a:tailEnd/>
          </a:ln>
        </p:spPr>
      </p:pic>
      <p:sp>
        <p:nvSpPr>
          <p:cNvPr id="3" name="Rectangle 2"/>
          <p:cNvSpPr/>
          <p:nvPr/>
        </p:nvSpPr>
        <p:spPr>
          <a:xfrm>
            <a:off x="7444" y="4960203"/>
            <a:ext cx="9148223" cy="830997"/>
          </a:xfrm>
          <a:prstGeom prst="rect">
            <a:avLst/>
          </a:prstGeom>
        </p:spPr>
        <p:txBody>
          <a:bodyPr wrap="square">
            <a:spAutoFit/>
          </a:bodyPr>
          <a:lstStyle/>
          <a:p>
            <a:pPr algn="ctr"/>
            <a:r>
              <a:rPr lang="en-US" sz="4800" b="1" dirty="0" smtClean="0">
                <a:solidFill>
                  <a:srgbClr val="FFC000"/>
                </a:solidFill>
              </a:rPr>
              <a:t>interface</a:t>
            </a:r>
            <a:endParaRPr lang="en-US" sz="4800" b="1" dirty="0">
              <a:solidFill>
                <a:srgbClr val="FFC000"/>
              </a:solidFill>
            </a:endParaRPr>
          </a:p>
        </p:txBody>
      </p:sp>
      <p:sp>
        <p:nvSpPr>
          <p:cNvPr id="7" name="Rectangle 6"/>
          <p:cNvSpPr/>
          <p:nvPr/>
        </p:nvSpPr>
        <p:spPr>
          <a:xfrm>
            <a:off x="0" y="6059269"/>
            <a:ext cx="9144000" cy="646331"/>
          </a:xfrm>
          <a:prstGeom prst="rect">
            <a:avLst/>
          </a:prstGeom>
        </p:spPr>
        <p:txBody>
          <a:bodyPr wrap="square">
            <a:spAutoFit/>
          </a:bodyPr>
          <a:lstStyle/>
          <a:p>
            <a:r>
              <a:rPr lang="en-US" b="1" dirty="0" smtClean="0">
                <a:solidFill>
                  <a:srgbClr val="002060"/>
                </a:solidFill>
                <a:latin typeface="Cambria" pitchFamily="18" charset="0"/>
              </a:rPr>
              <a:t>Class Presentations on Object Oriented Programming</a:t>
            </a:r>
          </a:p>
          <a:p>
            <a:r>
              <a:rPr lang="en-US" b="1" dirty="0" smtClean="0">
                <a:solidFill>
                  <a:srgbClr val="002060"/>
                </a:solidFill>
                <a:latin typeface="Cambria" pitchFamily="18" charset="0"/>
              </a:rPr>
              <a:t>						by  </a:t>
            </a:r>
            <a:r>
              <a:rPr lang="en-US" b="1" dirty="0" err="1" smtClean="0">
                <a:solidFill>
                  <a:srgbClr val="002060"/>
                </a:solidFill>
                <a:latin typeface="Cambria" pitchFamily="18" charset="0"/>
              </a:rPr>
              <a:t>Subhash</a:t>
            </a:r>
            <a:r>
              <a:rPr lang="en-US" b="1" dirty="0" smtClean="0">
                <a:solidFill>
                  <a:srgbClr val="002060"/>
                </a:solidFill>
                <a:latin typeface="Cambria" pitchFamily="18" charset="0"/>
              </a:rPr>
              <a:t> </a:t>
            </a:r>
            <a:r>
              <a:rPr lang="en-US" b="1" dirty="0" err="1" smtClean="0">
                <a:solidFill>
                  <a:srgbClr val="002060"/>
                </a:solidFill>
                <a:latin typeface="Cambria" pitchFamily="18" charset="0"/>
              </a:rPr>
              <a:t>Chand</a:t>
            </a:r>
            <a:r>
              <a:rPr lang="en-US" b="1" dirty="0" smtClean="0">
                <a:solidFill>
                  <a:srgbClr val="002060"/>
                </a:solidFill>
                <a:latin typeface="Cambria" pitchFamily="18" charset="0"/>
              </a:rPr>
              <a:t> </a:t>
            </a:r>
            <a:r>
              <a:rPr lang="en-US" b="1" dirty="0" err="1" smtClean="0">
                <a:solidFill>
                  <a:srgbClr val="002060"/>
                </a:solidFill>
                <a:latin typeface="Cambria" pitchFamily="18" charset="0"/>
              </a:rPr>
              <a:t>Agrawal</a:t>
            </a:r>
            <a:endParaRPr lang="en-US" b="1" dirty="0">
              <a:solidFill>
                <a:srgbClr val="002060"/>
              </a:solidFill>
              <a:latin typeface="Cambria" pitchFamily="18" charset="0"/>
            </a:endParaRPr>
          </a:p>
        </p:txBody>
      </p:sp>
      <p:sp>
        <p:nvSpPr>
          <p:cNvPr id="9" name="Title 1"/>
          <p:cNvSpPr txBox="1">
            <a:spLocks/>
          </p:cNvSpPr>
          <p:nvPr/>
        </p:nvSpPr>
        <p:spPr>
          <a:xfrm>
            <a:off x="1281112" y="152400"/>
            <a:ext cx="7558088" cy="990600"/>
          </a:xfrm>
          <a:prstGeom prst="rect">
            <a:avLst/>
          </a:prstGeom>
        </p:spPr>
        <p:txBody>
          <a:bodyPr vert="horz" anchor="b">
            <a:noAutofit/>
          </a:bodyPr>
          <a:lstStyle>
            <a:lvl1pPr algn="l" rtl="0" eaLnBrk="1" latinLnBrk="0" hangingPunct="1">
              <a:spcBef>
                <a:spcPct val="0"/>
              </a:spcBef>
              <a:buNone/>
              <a:defRPr kumimoji="0" sz="4400" kern="1200" cap="all" baseline="0">
                <a:solidFill>
                  <a:schemeClr val="tx2"/>
                </a:solidFill>
                <a:latin typeface="+mj-lt"/>
                <a:ea typeface="+mj-ea"/>
                <a:cs typeface="+mj-cs"/>
              </a:defRPr>
            </a:lvl1pPr>
          </a:lstStyle>
          <a:p>
            <a:r>
              <a:rPr lang="en-US" sz="4000" cap="none" dirty="0" smtClean="0">
                <a:solidFill>
                  <a:schemeClr val="tx1"/>
                </a:solidFill>
                <a:latin typeface="Berlin Sans FB Demi" pitchFamily="34" charset="0"/>
                <a:ea typeface="ＭＳ Ｐゴシック"/>
                <a:cs typeface="ＭＳ Ｐゴシック"/>
              </a:rPr>
              <a:t>Object Oriented Programming</a:t>
            </a:r>
          </a:p>
        </p:txBody>
      </p:sp>
      <p:pic>
        <p:nvPicPr>
          <p:cNvPr id="1029" name="Picture 5" descr="What is OOP (Object-Oriented Programming)?"/>
          <p:cNvPicPr>
            <a:picLocks noChangeAspect="1" noChangeArrowheads="1"/>
          </p:cNvPicPr>
          <p:nvPr/>
        </p:nvPicPr>
        <p:blipFill>
          <a:blip r:embed="rId4" cstate="print"/>
          <a:srcRect/>
          <a:stretch>
            <a:fillRect/>
          </a:stretch>
        </p:blipFill>
        <p:spPr bwMode="auto">
          <a:xfrm>
            <a:off x="2286000" y="1600200"/>
            <a:ext cx="4724400" cy="3409951"/>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28600"/>
            <a:ext cx="7089648" cy="990600"/>
          </a:xfrm>
        </p:spPr>
        <p:txBody>
          <a:bodyPr/>
          <a:lstStyle/>
          <a:p>
            <a:r>
              <a:rPr lang="en-US" dirty="0" smtClean="0"/>
              <a:t>Program</a:t>
            </a:r>
            <a:endParaRPr lang="en-US" dirty="0"/>
          </a:p>
        </p:txBody>
      </p:sp>
      <p:sp>
        <p:nvSpPr>
          <p:cNvPr id="3" name="Content Placeholder 2"/>
          <p:cNvSpPr>
            <a:spLocks noGrp="1"/>
          </p:cNvSpPr>
          <p:nvPr>
            <p:ph sz="quarter" idx="1"/>
          </p:nvPr>
        </p:nvSpPr>
        <p:spPr/>
        <p:txBody>
          <a:bodyPr/>
          <a:lstStyle/>
          <a:p>
            <a:pPr lvl="0" algn="just"/>
            <a:r>
              <a:rPr lang="en-US" dirty="0" smtClean="0"/>
              <a:t>Write a java program to create an interface named Shape that contains empty method named Area() and Perimeter(). Provide two classes named Triangle and Circle such that each one of the classes implements Shape. Each one of the classes contains only the method Area () and Perimeter().that prints the area and perimeter() of the given shape.</a:t>
            </a:r>
          </a:p>
          <a:p>
            <a:endParaRPr lang="en-US" dirty="0"/>
          </a:p>
        </p:txBody>
      </p:sp>
      <p:pic>
        <p:nvPicPr>
          <p:cNvPr id="4" name="Picture 2"/>
          <p:cNvPicPr>
            <a:picLocks noChangeAspect="1" noChangeArrowheads="1"/>
          </p:cNvPicPr>
          <p:nvPr/>
        </p:nvPicPr>
        <p:blipFill>
          <a:blip r:embed="rId2" cstate="print"/>
          <a:srcRect/>
          <a:stretch>
            <a:fillRect/>
          </a:stretch>
        </p:blipFill>
        <p:spPr bwMode="auto">
          <a:xfrm>
            <a:off x="76200" y="75773"/>
            <a:ext cx="1097280" cy="11434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470648" cy="990600"/>
          </a:xfrm>
        </p:spPr>
        <p:txBody>
          <a:bodyPr/>
          <a:lstStyle/>
          <a:p>
            <a:r>
              <a:rPr lang="en-US" dirty="0" smtClean="0"/>
              <a:t>interface</a:t>
            </a:r>
            <a:endParaRPr lang="en-US" dirty="0"/>
          </a:p>
        </p:txBody>
      </p:sp>
      <p:sp>
        <p:nvSpPr>
          <p:cNvPr id="3" name="Content Placeholder 2"/>
          <p:cNvSpPr>
            <a:spLocks noGrp="1"/>
          </p:cNvSpPr>
          <p:nvPr>
            <p:ph sz="quarter" idx="1"/>
          </p:nvPr>
        </p:nvSpPr>
        <p:spPr/>
        <p:txBody>
          <a:bodyPr>
            <a:normAutofit/>
          </a:bodyPr>
          <a:lstStyle/>
          <a:p>
            <a:pPr algn="just"/>
            <a:r>
              <a:rPr lang="en-US" dirty="0" smtClean="0"/>
              <a:t>An </a:t>
            </a:r>
            <a:r>
              <a:rPr lang="en-US" b="1" dirty="0" smtClean="0"/>
              <a:t>interface in Java</a:t>
            </a:r>
            <a:r>
              <a:rPr lang="en-US" dirty="0" smtClean="0"/>
              <a:t> is a blueprint of a class.</a:t>
            </a:r>
          </a:p>
          <a:p>
            <a:pPr algn="just"/>
            <a:r>
              <a:rPr lang="en-US" dirty="0" smtClean="0"/>
              <a:t> It has static constants and abstract methods.</a:t>
            </a:r>
          </a:p>
          <a:p>
            <a:pPr algn="just"/>
            <a:r>
              <a:rPr lang="en-US" dirty="0" smtClean="0"/>
              <a:t>It is used to achieve abstraction and multiple inheritance in Java.</a:t>
            </a:r>
          </a:p>
          <a:p>
            <a:pPr algn="just"/>
            <a:r>
              <a:rPr lang="en-US" dirty="0" smtClean="0"/>
              <a:t>In other words, you can say that interfaces can have abstract methods and variables. </a:t>
            </a:r>
          </a:p>
          <a:p>
            <a:pPr algn="just"/>
            <a:endParaRPr lang="en-US" dirty="0"/>
          </a:p>
        </p:txBody>
      </p:sp>
      <p:pic>
        <p:nvPicPr>
          <p:cNvPr id="4" name="Picture 2"/>
          <p:cNvPicPr>
            <a:picLocks noChangeAspect="1" noChangeArrowheads="1"/>
          </p:cNvPicPr>
          <p:nvPr/>
        </p:nvPicPr>
        <p:blipFill>
          <a:blip r:embed="rId2" cstate="print"/>
          <a:srcRect/>
          <a:stretch>
            <a:fillRect/>
          </a:stretch>
        </p:blipFill>
        <p:spPr bwMode="auto">
          <a:xfrm>
            <a:off x="76200" y="75773"/>
            <a:ext cx="1097280" cy="114342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How to declare an interface?</a:t>
            </a:r>
            <a:endParaRPr lang="en-US" dirty="0"/>
          </a:p>
        </p:txBody>
      </p:sp>
      <p:sp>
        <p:nvSpPr>
          <p:cNvPr id="3" name="Content Placeholder 2"/>
          <p:cNvSpPr>
            <a:spLocks noGrp="1"/>
          </p:cNvSpPr>
          <p:nvPr>
            <p:ph sz="quarter" idx="1"/>
          </p:nvPr>
        </p:nvSpPr>
        <p:spPr/>
        <p:txBody>
          <a:bodyPr/>
          <a:lstStyle/>
          <a:p>
            <a:r>
              <a:rPr lang="en-US" dirty="0" smtClean="0"/>
              <a:t>interface &lt;</a:t>
            </a:r>
            <a:r>
              <a:rPr lang="en-US" dirty="0" err="1" smtClean="0"/>
              <a:t>interface_name</a:t>
            </a:r>
            <a:r>
              <a:rPr lang="en-US" dirty="0" smtClean="0"/>
              <a:t>&gt;{  </a:t>
            </a:r>
          </a:p>
          <a:p>
            <a:r>
              <a:rPr lang="en-US" dirty="0" smtClean="0"/>
              <a:t>          // declare constant fields  </a:t>
            </a:r>
          </a:p>
          <a:p>
            <a:r>
              <a:rPr lang="en-US" dirty="0" smtClean="0"/>
              <a:t>    // declare methods that abstract   </a:t>
            </a:r>
          </a:p>
          <a:p>
            <a:r>
              <a:rPr lang="en-US" dirty="0" smtClean="0"/>
              <a:t>    // by default.  </a:t>
            </a:r>
          </a:p>
          <a:p>
            <a:r>
              <a:rPr lang="en-US" dirty="0" smtClean="0"/>
              <a:t>}  </a:t>
            </a:r>
          </a:p>
          <a:p>
            <a:endParaRPr lang="en-US" dirty="0"/>
          </a:p>
        </p:txBody>
      </p:sp>
      <p:pic>
        <p:nvPicPr>
          <p:cNvPr id="4" name="Picture 2"/>
          <p:cNvPicPr>
            <a:picLocks noChangeAspect="1" noChangeArrowheads="1"/>
          </p:cNvPicPr>
          <p:nvPr/>
        </p:nvPicPr>
        <p:blipFill>
          <a:blip r:embed="rId3" cstate="print"/>
          <a:srcRect/>
          <a:stretch>
            <a:fillRect/>
          </a:stretch>
        </p:blipFill>
        <p:spPr bwMode="auto">
          <a:xfrm>
            <a:off x="76200" y="75773"/>
            <a:ext cx="1097280" cy="11434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470648" cy="990600"/>
          </a:xfrm>
        </p:spPr>
        <p:txBody>
          <a:bodyPr>
            <a:normAutofit fontScale="90000"/>
          </a:bodyPr>
          <a:lstStyle/>
          <a:p>
            <a:r>
              <a:rPr lang="en-US" b="1" dirty="0" smtClean="0"/>
              <a:t>The relationship between classes and interfaces</a:t>
            </a:r>
            <a:endParaRPr lang="en-US" dirty="0"/>
          </a:p>
        </p:txBody>
      </p:sp>
      <p:sp>
        <p:nvSpPr>
          <p:cNvPr id="3" name="Content Placeholder 2"/>
          <p:cNvSpPr>
            <a:spLocks noGrp="1"/>
          </p:cNvSpPr>
          <p:nvPr>
            <p:ph sz="quarter" idx="1"/>
          </p:nvPr>
        </p:nvSpPr>
        <p:spPr/>
        <p:txBody>
          <a:bodyPr/>
          <a:lstStyle/>
          <a:p>
            <a:endParaRPr lang="en-US" dirty="0"/>
          </a:p>
        </p:txBody>
      </p:sp>
      <p:pic>
        <p:nvPicPr>
          <p:cNvPr id="1026" name="Picture 2" descr="https://static.javatpoint.com/images/core/interfacerelation.jpg"/>
          <p:cNvPicPr>
            <a:picLocks noChangeAspect="1" noChangeArrowheads="1"/>
          </p:cNvPicPr>
          <p:nvPr/>
        </p:nvPicPr>
        <p:blipFill>
          <a:blip r:embed="rId3" cstate="print"/>
          <a:srcRect/>
          <a:stretch>
            <a:fillRect/>
          </a:stretch>
        </p:blipFill>
        <p:spPr bwMode="auto">
          <a:xfrm>
            <a:off x="1295400" y="1828800"/>
            <a:ext cx="7162800" cy="3810000"/>
          </a:xfrm>
          <a:prstGeom prst="rect">
            <a:avLst/>
          </a:prstGeom>
          <a:noFill/>
        </p:spPr>
      </p:pic>
      <p:pic>
        <p:nvPicPr>
          <p:cNvPr id="8" name="Picture 2"/>
          <p:cNvPicPr>
            <a:picLocks noChangeAspect="1" noChangeArrowheads="1"/>
          </p:cNvPicPr>
          <p:nvPr/>
        </p:nvPicPr>
        <p:blipFill>
          <a:blip r:embed="rId4" cstate="print"/>
          <a:srcRect/>
          <a:stretch>
            <a:fillRect/>
          </a:stretch>
        </p:blipFill>
        <p:spPr bwMode="auto">
          <a:xfrm>
            <a:off x="76200" y="75773"/>
            <a:ext cx="1097280" cy="11434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546848" cy="990600"/>
          </a:xfrm>
        </p:spPr>
        <p:txBody>
          <a:bodyPr/>
          <a:lstStyle/>
          <a:p>
            <a:r>
              <a:rPr lang="en-US" dirty="0" smtClean="0"/>
              <a:t>Example</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 interface Example{  </a:t>
            </a:r>
          </a:p>
          <a:p>
            <a:r>
              <a:rPr lang="en-US" dirty="0" smtClean="0"/>
              <a:t>    void print();  </a:t>
            </a:r>
          </a:p>
          <a:p>
            <a:r>
              <a:rPr lang="en" dirty="0" smtClean="0"/>
              <a:t>    }  </a:t>
            </a:r>
          </a:p>
          <a:p>
            <a:r>
              <a:rPr lang="en-US" dirty="0" smtClean="0"/>
              <a:t>    public class test implements Example{  </a:t>
            </a:r>
          </a:p>
          <a:p>
            <a:r>
              <a:rPr lang="en-US" dirty="0" smtClean="0"/>
              <a:t>    public void print(){</a:t>
            </a:r>
            <a:r>
              <a:rPr lang="en-US" dirty="0" err="1" smtClean="0"/>
              <a:t>System.out.println</a:t>
            </a:r>
            <a:r>
              <a:rPr lang="en-US" dirty="0" smtClean="0"/>
              <a:t>("Interface example");}  </a:t>
            </a:r>
          </a:p>
          <a:p>
            <a:r>
              <a:rPr lang="en-US" dirty="0" smtClean="0"/>
              <a:t>     public static void main(String </a:t>
            </a:r>
            <a:r>
              <a:rPr lang="en-US" dirty="0" err="1" smtClean="0"/>
              <a:t>args</a:t>
            </a:r>
            <a:r>
              <a:rPr lang="en-US" dirty="0" smtClean="0"/>
              <a:t>[]){  </a:t>
            </a:r>
          </a:p>
          <a:p>
            <a:r>
              <a:rPr lang="en-US" dirty="0" smtClean="0"/>
              <a:t>    test </a:t>
            </a:r>
            <a:r>
              <a:rPr lang="en-US" dirty="0" err="1" smtClean="0"/>
              <a:t>obj</a:t>
            </a:r>
            <a:r>
              <a:rPr lang="en-US" dirty="0" smtClean="0"/>
              <a:t> = new test();  </a:t>
            </a:r>
          </a:p>
          <a:p>
            <a:r>
              <a:rPr lang="en-US" dirty="0" smtClean="0"/>
              <a:t>    </a:t>
            </a:r>
            <a:r>
              <a:rPr lang="en-US" dirty="0" err="1" smtClean="0"/>
              <a:t>obj.print</a:t>
            </a:r>
            <a:r>
              <a:rPr lang="en-US" dirty="0" smtClean="0"/>
              <a:t>();  </a:t>
            </a:r>
          </a:p>
          <a:p>
            <a:r>
              <a:rPr lang="en" dirty="0" smtClean="0"/>
              <a:t>     }  </a:t>
            </a:r>
          </a:p>
          <a:p>
            <a:r>
              <a:rPr lang="en" dirty="0" smtClean="0"/>
              <a:t>    }  </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76200" y="75773"/>
            <a:ext cx="1097280" cy="1143427"/>
          </a:xfrm>
          <a:prstGeom prst="rect">
            <a:avLst/>
          </a:prstGeom>
          <a:noFill/>
          <a:ln w="9525">
            <a:noFill/>
            <a:miter lim="800000"/>
            <a:headEnd/>
            <a:tailEnd/>
          </a:ln>
        </p:spPr>
      </p:pic>
      <p:sp>
        <p:nvSpPr>
          <p:cNvPr id="5" name="Rectangle 4"/>
          <p:cNvSpPr/>
          <p:nvPr/>
        </p:nvSpPr>
        <p:spPr>
          <a:xfrm>
            <a:off x="4953000" y="5257800"/>
            <a:ext cx="2421304" cy="461665"/>
          </a:xfrm>
          <a:prstGeom prst="rect">
            <a:avLst/>
          </a:prstGeom>
        </p:spPr>
        <p:txBody>
          <a:bodyPr wrap="none">
            <a:spAutoFit/>
          </a:bodyPr>
          <a:lstStyle/>
          <a:p>
            <a:r>
              <a:rPr lang="en-US" sz="2400" dirty="0" smtClean="0"/>
              <a:t>Interface example</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dirty="0" smtClean="0"/>
          </a:p>
          <a:p>
            <a:endParaRPr lang="en-US" dirty="0" smtClean="0"/>
          </a:p>
          <a:p>
            <a:r>
              <a:rPr lang="en-US" dirty="0" smtClean="0"/>
              <a:t>Another use</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76200" y="75773"/>
            <a:ext cx="1097280" cy="11434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533400" y="228600"/>
            <a:ext cx="7772400" cy="6629400"/>
          </a:xfrm>
        </p:spPr>
        <p:txBody>
          <a:bodyPr>
            <a:normAutofit fontScale="77500" lnSpcReduction="20000"/>
          </a:bodyPr>
          <a:lstStyle/>
          <a:p>
            <a:r>
              <a:rPr lang="en-US" dirty="0" smtClean="0"/>
              <a:t> interface Drawing{  </a:t>
            </a:r>
          </a:p>
          <a:p>
            <a:r>
              <a:rPr lang="en-US" dirty="0" smtClean="0"/>
              <a:t>    void draw();  </a:t>
            </a:r>
          </a:p>
          <a:p>
            <a:r>
              <a:rPr lang="en" dirty="0" smtClean="0"/>
              <a:t>    }  </a:t>
            </a:r>
          </a:p>
          <a:p>
            <a:r>
              <a:rPr lang="en-US" dirty="0" smtClean="0"/>
              <a:t>    class Rectangle implements Drawing{  </a:t>
            </a:r>
          </a:p>
          <a:p>
            <a:r>
              <a:rPr lang="en-US" dirty="0" smtClean="0"/>
              <a:t>    public void draw(){</a:t>
            </a:r>
            <a:r>
              <a:rPr lang="en-US" dirty="0" err="1" smtClean="0"/>
              <a:t>System.out.println</a:t>
            </a:r>
            <a:r>
              <a:rPr lang="en-US" dirty="0" smtClean="0"/>
              <a:t>("drawing rectangle");}  </a:t>
            </a:r>
          </a:p>
          <a:p>
            <a:r>
              <a:rPr lang="en" dirty="0" smtClean="0"/>
              <a:t>    }  </a:t>
            </a:r>
          </a:p>
          <a:p>
            <a:r>
              <a:rPr lang="en-US" dirty="0" smtClean="0"/>
              <a:t>    class Circle implements Drawing{  </a:t>
            </a:r>
          </a:p>
          <a:p>
            <a:r>
              <a:rPr lang="en-US" dirty="0" smtClean="0"/>
              <a:t>    public void draw(){</a:t>
            </a:r>
            <a:r>
              <a:rPr lang="en-US" dirty="0" err="1" smtClean="0"/>
              <a:t>System.out.println</a:t>
            </a:r>
            <a:r>
              <a:rPr lang="en-US" dirty="0" smtClean="0"/>
              <a:t>("drawing circle");}  </a:t>
            </a:r>
          </a:p>
          <a:p>
            <a:r>
              <a:rPr lang="en" dirty="0" smtClean="0"/>
              <a:t>    }  </a:t>
            </a:r>
          </a:p>
          <a:p>
            <a:r>
              <a:rPr lang="en-US" dirty="0" smtClean="0"/>
              <a:t>    public class TestInterface1{  </a:t>
            </a:r>
          </a:p>
          <a:p>
            <a:r>
              <a:rPr lang="en-US" dirty="0" smtClean="0"/>
              <a:t>    public static void main(String </a:t>
            </a:r>
            <a:r>
              <a:rPr lang="en-US" dirty="0" err="1" smtClean="0"/>
              <a:t>args</a:t>
            </a:r>
            <a:r>
              <a:rPr lang="en-US" dirty="0" smtClean="0"/>
              <a:t>[]){  </a:t>
            </a:r>
          </a:p>
          <a:p>
            <a:r>
              <a:rPr lang="en-US" dirty="0" smtClean="0"/>
              <a:t>    Drawing d=new Circle();</a:t>
            </a:r>
          </a:p>
          <a:p>
            <a:r>
              <a:rPr lang="en-US" dirty="0" smtClean="0"/>
              <a:t>    Drawing d1=new Rectangle();</a:t>
            </a:r>
          </a:p>
          <a:p>
            <a:r>
              <a:rPr lang="en-US" dirty="0" smtClean="0"/>
              <a:t>    </a:t>
            </a:r>
            <a:r>
              <a:rPr lang="en-US" dirty="0" err="1" smtClean="0"/>
              <a:t>d.draw</a:t>
            </a:r>
            <a:r>
              <a:rPr lang="en-US" dirty="0" smtClean="0"/>
              <a:t>();  </a:t>
            </a:r>
          </a:p>
          <a:p>
            <a:r>
              <a:rPr lang="en-US" dirty="0" smtClean="0"/>
              <a:t>    d1.draw(); </a:t>
            </a:r>
          </a:p>
          <a:p>
            <a:r>
              <a:rPr lang="en" dirty="0" smtClean="0"/>
              <a:t>    }}  </a:t>
            </a:r>
            <a:endParaRPr lang="en-US" dirty="0"/>
          </a:p>
        </p:txBody>
      </p:sp>
      <p:sp>
        <p:nvSpPr>
          <p:cNvPr id="4" name="Rectangle 3"/>
          <p:cNvSpPr/>
          <p:nvPr/>
        </p:nvSpPr>
        <p:spPr>
          <a:xfrm>
            <a:off x="5410200" y="4495800"/>
            <a:ext cx="32004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rPr>
              <a:t>drawing circle</a:t>
            </a:r>
          </a:p>
          <a:p>
            <a:pPr algn="ctr"/>
            <a:r>
              <a:rPr lang="en-US" sz="2200" dirty="0" smtClean="0">
                <a:solidFill>
                  <a:schemeClr val="tx1"/>
                </a:solidFill>
              </a:rPr>
              <a:t>drawing rectangle</a:t>
            </a:r>
            <a:endParaRPr lang="en-US" sz="2200" dirty="0">
              <a:solidFill>
                <a:schemeClr val="tx1"/>
              </a:solidFill>
            </a:endParaRPr>
          </a:p>
        </p:txBody>
      </p:sp>
      <p:pic>
        <p:nvPicPr>
          <p:cNvPr id="5" name="Picture 2"/>
          <p:cNvPicPr>
            <a:picLocks noChangeAspect="1" noChangeArrowheads="1"/>
          </p:cNvPicPr>
          <p:nvPr/>
        </p:nvPicPr>
        <p:blipFill>
          <a:blip r:embed="rId2" cstate="print"/>
          <a:srcRect/>
          <a:stretch>
            <a:fillRect/>
          </a:stretch>
        </p:blipFill>
        <p:spPr bwMode="auto">
          <a:xfrm>
            <a:off x="7391400" y="0"/>
            <a:ext cx="1097280" cy="114342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5743624" cy="492443"/>
          </a:xfrm>
          <a:prstGeom prst="rect">
            <a:avLst/>
          </a:prstGeom>
        </p:spPr>
        <p:txBody>
          <a:bodyPr wrap="none">
            <a:spAutoFit/>
          </a:bodyPr>
          <a:lstStyle/>
          <a:p>
            <a:r>
              <a:rPr lang="en-US" sz="2600" b="1" dirty="0" smtClean="0"/>
              <a:t>Multiple inheritance in Java by interface</a:t>
            </a:r>
            <a:endParaRPr lang="en-US" sz="2600" b="1" dirty="0"/>
          </a:p>
        </p:txBody>
      </p:sp>
      <p:pic>
        <p:nvPicPr>
          <p:cNvPr id="20482" name="Picture 2" descr="https://static.javatpoint.com/images/core/multipleinheritance.jpg"/>
          <p:cNvPicPr>
            <a:picLocks noChangeAspect="1" noChangeArrowheads="1"/>
          </p:cNvPicPr>
          <p:nvPr/>
        </p:nvPicPr>
        <p:blipFill>
          <a:blip r:embed="rId2" cstate="print"/>
          <a:srcRect/>
          <a:stretch>
            <a:fillRect/>
          </a:stretch>
        </p:blipFill>
        <p:spPr bwMode="auto">
          <a:xfrm>
            <a:off x="609600" y="1295400"/>
            <a:ext cx="7696200" cy="4191000"/>
          </a:xfrm>
          <a:prstGeom prst="rect">
            <a:avLst/>
          </a:prstGeom>
          <a:noFill/>
        </p:spPr>
      </p:pic>
      <p:pic>
        <p:nvPicPr>
          <p:cNvPr id="4" name="Picture 2"/>
          <p:cNvPicPr>
            <a:picLocks noChangeAspect="1" noChangeArrowheads="1"/>
          </p:cNvPicPr>
          <p:nvPr/>
        </p:nvPicPr>
        <p:blipFill>
          <a:blip r:embed="rId3" cstate="print"/>
          <a:srcRect/>
          <a:stretch>
            <a:fillRect/>
          </a:stretch>
        </p:blipFill>
        <p:spPr bwMode="auto">
          <a:xfrm>
            <a:off x="7239000" y="0"/>
            <a:ext cx="1097280" cy="11434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0"/>
            <a:ext cx="7924800" cy="6093976"/>
          </a:xfrm>
          <a:prstGeom prst="rect">
            <a:avLst/>
          </a:prstGeom>
        </p:spPr>
        <p:txBody>
          <a:bodyPr wrap="square">
            <a:spAutoFit/>
          </a:bodyPr>
          <a:lstStyle/>
          <a:p>
            <a:r>
              <a:rPr lang="en-US" dirty="0" smtClean="0"/>
              <a:t> </a:t>
            </a:r>
            <a:r>
              <a:rPr lang="en-US" sz="2600" dirty="0" smtClean="0"/>
              <a:t>interface Interface1{  </a:t>
            </a:r>
          </a:p>
          <a:p>
            <a:r>
              <a:rPr lang="en-US" sz="2600" dirty="0" smtClean="0"/>
              <a:t>    void print();  </a:t>
            </a:r>
          </a:p>
          <a:p>
            <a:r>
              <a:rPr lang="en" sz="2600" dirty="0" smtClean="0"/>
              <a:t>    }  </a:t>
            </a:r>
          </a:p>
          <a:p>
            <a:r>
              <a:rPr lang="en-US" sz="2600" dirty="0" smtClean="0"/>
              <a:t>    interface Interface2{  </a:t>
            </a:r>
          </a:p>
          <a:p>
            <a:r>
              <a:rPr lang="en-US" sz="2600" dirty="0" smtClean="0"/>
              <a:t>    void show();  </a:t>
            </a:r>
          </a:p>
          <a:p>
            <a:r>
              <a:rPr lang="en" sz="2600" dirty="0" smtClean="0"/>
              <a:t>    }  </a:t>
            </a:r>
          </a:p>
          <a:p>
            <a:r>
              <a:rPr lang="en-US" sz="2600" dirty="0" smtClean="0"/>
              <a:t>    public class test implements Interface1,Interface2{  </a:t>
            </a:r>
          </a:p>
          <a:p>
            <a:r>
              <a:rPr lang="en-US" sz="2600" dirty="0" smtClean="0"/>
              <a:t>    public void print(){</a:t>
            </a:r>
            <a:r>
              <a:rPr lang="en-US" sz="2600" dirty="0" err="1" smtClean="0"/>
              <a:t>System.out.println</a:t>
            </a:r>
            <a:r>
              <a:rPr lang="en-US" sz="2600" dirty="0" smtClean="0"/>
              <a:t>("Hello");}  </a:t>
            </a:r>
          </a:p>
          <a:p>
            <a:r>
              <a:rPr lang="en-US" sz="2600" dirty="0" smtClean="0"/>
              <a:t>    public void show(){</a:t>
            </a:r>
            <a:r>
              <a:rPr lang="en-US" sz="2600" dirty="0" err="1" smtClean="0"/>
              <a:t>System.out.println</a:t>
            </a:r>
            <a:r>
              <a:rPr lang="en-US" sz="2600" dirty="0" smtClean="0"/>
              <a:t>("Welcome");}  </a:t>
            </a:r>
          </a:p>
          <a:p>
            <a:r>
              <a:rPr lang="en-US" sz="2600" dirty="0" smtClean="0"/>
              <a:t>    public static void main(String </a:t>
            </a:r>
            <a:r>
              <a:rPr lang="en-US" sz="2600" dirty="0" err="1" smtClean="0"/>
              <a:t>args</a:t>
            </a:r>
            <a:r>
              <a:rPr lang="en-US" sz="2600" dirty="0" smtClean="0"/>
              <a:t>[]){  </a:t>
            </a:r>
          </a:p>
          <a:p>
            <a:r>
              <a:rPr lang="en-US" sz="2600" dirty="0" smtClean="0"/>
              <a:t>    test </a:t>
            </a:r>
            <a:r>
              <a:rPr lang="en-US" sz="2600" dirty="0" err="1" smtClean="0"/>
              <a:t>obj</a:t>
            </a:r>
            <a:r>
              <a:rPr lang="en-US" sz="2600" dirty="0" smtClean="0"/>
              <a:t> = new test();  </a:t>
            </a:r>
          </a:p>
          <a:p>
            <a:r>
              <a:rPr lang="en-US" sz="2600" dirty="0" smtClean="0"/>
              <a:t>    </a:t>
            </a:r>
            <a:r>
              <a:rPr lang="en-US" sz="2600" dirty="0" err="1" smtClean="0"/>
              <a:t>obj.print</a:t>
            </a:r>
            <a:r>
              <a:rPr lang="en-US" sz="2600" dirty="0" smtClean="0"/>
              <a:t>();  </a:t>
            </a:r>
          </a:p>
          <a:p>
            <a:r>
              <a:rPr lang="en-US" sz="2600" dirty="0" smtClean="0"/>
              <a:t>    </a:t>
            </a:r>
            <a:r>
              <a:rPr lang="en-US" sz="2600" dirty="0" err="1" smtClean="0"/>
              <a:t>obj.show</a:t>
            </a:r>
            <a:r>
              <a:rPr lang="en-US" sz="2600" dirty="0" smtClean="0"/>
              <a:t>();  </a:t>
            </a:r>
          </a:p>
          <a:p>
            <a:r>
              <a:rPr lang="en" sz="2600" dirty="0" smtClean="0"/>
              <a:t>         }  </a:t>
            </a:r>
          </a:p>
          <a:p>
            <a:r>
              <a:rPr lang="en" sz="2600" dirty="0" smtClean="0"/>
              <a:t>    }  </a:t>
            </a:r>
            <a:endParaRPr lang="en-US" sz="2600" dirty="0"/>
          </a:p>
        </p:txBody>
      </p:sp>
      <p:pic>
        <p:nvPicPr>
          <p:cNvPr id="3" name="Picture 2"/>
          <p:cNvPicPr>
            <a:picLocks noChangeAspect="1" noChangeArrowheads="1"/>
          </p:cNvPicPr>
          <p:nvPr/>
        </p:nvPicPr>
        <p:blipFill>
          <a:blip r:embed="rId2" cstate="print"/>
          <a:srcRect/>
          <a:stretch>
            <a:fillRect/>
          </a:stretch>
        </p:blipFill>
        <p:spPr bwMode="auto">
          <a:xfrm>
            <a:off x="7239000" y="0"/>
            <a:ext cx="1097280" cy="11434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0"/>
            <a:ext cx="8001000" cy="892552"/>
          </a:xfrm>
          <a:prstGeom prst="rect">
            <a:avLst/>
          </a:prstGeom>
        </p:spPr>
        <p:txBody>
          <a:bodyPr wrap="square">
            <a:spAutoFit/>
          </a:bodyPr>
          <a:lstStyle/>
          <a:p>
            <a:pPr algn="just"/>
            <a:r>
              <a:rPr lang="en-US" sz="2600" b="1" dirty="0" smtClean="0"/>
              <a:t>Multiple inheritance is not supported through class in java, but it is possible by an interface, why?</a:t>
            </a:r>
            <a:endParaRPr lang="en-US" sz="2600" b="1" dirty="0"/>
          </a:p>
        </p:txBody>
      </p:sp>
      <p:sp>
        <p:nvSpPr>
          <p:cNvPr id="3" name="Rectangle 2"/>
          <p:cNvSpPr/>
          <p:nvPr/>
        </p:nvSpPr>
        <p:spPr>
          <a:xfrm>
            <a:off x="228600" y="2209800"/>
            <a:ext cx="8610600" cy="2492990"/>
          </a:xfrm>
          <a:prstGeom prst="rect">
            <a:avLst/>
          </a:prstGeom>
        </p:spPr>
        <p:txBody>
          <a:bodyPr wrap="square">
            <a:spAutoFit/>
          </a:bodyPr>
          <a:lstStyle/>
          <a:p>
            <a:pPr algn="just"/>
            <a:r>
              <a:rPr lang="en-US" sz="2600" dirty="0" smtClean="0"/>
              <a:t>Multiple inheritance is not supported in the case of class because of ambiguity. </a:t>
            </a:r>
          </a:p>
          <a:p>
            <a:pPr algn="just"/>
            <a:r>
              <a:rPr lang="en-US" sz="2600" dirty="0" smtClean="0"/>
              <a:t>However, it is supported in case of an interface because there is no ambiguity.</a:t>
            </a:r>
          </a:p>
          <a:p>
            <a:pPr algn="just"/>
            <a:r>
              <a:rPr lang="en-US" sz="2600" dirty="0" smtClean="0"/>
              <a:t>It is because its implementation is provided by the implementation class. </a:t>
            </a:r>
            <a:endParaRPr lang="en-US" sz="2600" dirty="0"/>
          </a:p>
        </p:txBody>
      </p:sp>
      <p:pic>
        <p:nvPicPr>
          <p:cNvPr id="4" name="Picture 2"/>
          <p:cNvPicPr>
            <a:picLocks noChangeAspect="1" noChangeArrowheads="1"/>
          </p:cNvPicPr>
          <p:nvPr/>
        </p:nvPicPr>
        <p:blipFill>
          <a:blip r:embed="rId2" cstate="print"/>
          <a:srcRect/>
          <a:stretch>
            <a:fillRect/>
          </a:stretch>
        </p:blipFill>
        <p:spPr bwMode="auto">
          <a:xfrm>
            <a:off x="76200" y="75773"/>
            <a:ext cx="1097280" cy="68622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229600" cy="6124754"/>
          </a:xfrm>
          <a:prstGeom prst="rect">
            <a:avLst/>
          </a:prstGeom>
        </p:spPr>
        <p:txBody>
          <a:bodyPr wrap="square">
            <a:spAutoFit/>
          </a:bodyPr>
          <a:lstStyle/>
          <a:p>
            <a:r>
              <a:rPr lang="en-US" sz="2800" dirty="0" smtClean="0"/>
              <a:t> interface Interface1{  </a:t>
            </a:r>
          </a:p>
          <a:p>
            <a:r>
              <a:rPr lang="en-US" sz="2800" dirty="0" smtClean="0"/>
              <a:t>    void print();  </a:t>
            </a:r>
          </a:p>
          <a:p>
            <a:r>
              <a:rPr lang="en" sz="2800" dirty="0" smtClean="0"/>
              <a:t>    }  </a:t>
            </a:r>
          </a:p>
          <a:p>
            <a:r>
              <a:rPr lang="en-US" sz="2800" dirty="0" smtClean="0"/>
              <a:t>    interface Interface2{  </a:t>
            </a:r>
          </a:p>
          <a:p>
            <a:r>
              <a:rPr lang="en-US" sz="2800" dirty="0" smtClean="0"/>
              <a:t>    void print();  </a:t>
            </a:r>
          </a:p>
          <a:p>
            <a:r>
              <a:rPr lang="en" sz="2800" dirty="0" smtClean="0"/>
              <a:t>    }  </a:t>
            </a:r>
          </a:p>
          <a:p>
            <a:r>
              <a:rPr lang="en-US" sz="2800" dirty="0" smtClean="0"/>
              <a:t>    public class TestInterface3 </a:t>
            </a:r>
          </a:p>
          <a:p>
            <a:r>
              <a:rPr lang="en-US" sz="2800" dirty="0" smtClean="0"/>
              <a:t>Interface1,Interface2{  </a:t>
            </a:r>
          </a:p>
          <a:p>
            <a:r>
              <a:rPr lang="en-US" sz="2800" dirty="0" smtClean="0"/>
              <a:t>    public void print(){</a:t>
            </a:r>
            <a:r>
              <a:rPr lang="en-US" sz="2800" dirty="0" err="1" smtClean="0"/>
              <a:t>System.out.println</a:t>
            </a:r>
            <a:r>
              <a:rPr lang="en-US" sz="2800" dirty="0" smtClean="0"/>
              <a:t>("Hello");}  </a:t>
            </a:r>
          </a:p>
          <a:p>
            <a:r>
              <a:rPr lang="en-US" sz="2800" dirty="0" smtClean="0"/>
              <a:t>    public static void main(String </a:t>
            </a:r>
            <a:r>
              <a:rPr lang="en-US" sz="2800" dirty="0" err="1" smtClean="0"/>
              <a:t>args</a:t>
            </a:r>
            <a:r>
              <a:rPr lang="en-US" sz="2800" dirty="0" smtClean="0"/>
              <a:t>[]){  </a:t>
            </a:r>
          </a:p>
          <a:p>
            <a:r>
              <a:rPr lang="en-US" sz="2800" dirty="0" smtClean="0"/>
              <a:t>    TestInterface3 </a:t>
            </a:r>
            <a:r>
              <a:rPr lang="en-US" sz="2800" dirty="0" err="1" smtClean="0"/>
              <a:t>obj</a:t>
            </a:r>
            <a:r>
              <a:rPr lang="en-US" sz="2800" dirty="0" smtClean="0"/>
              <a:t> = new TestInterface3();  </a:t>
            </a:r>
          </a:p>
          <a:p>
            <a:r>
              <a:rPr lang="en-US" sz="2800" dirty="0" smtClean="0"/>
              <a:t>    </a:t>
            </a:r>
            <a:r>
              <a:rPr lang="en-US" sz="2800" dirty="0" err="1" smtClean="0"/>
              <a:t>obj.print</a:t>
            </a:r>
            <a:r>
              <a:rPr lang="en-US" sz="2800" dirty="0" smtClean="0"/>
              <a:t>();  </a:t>
            </a:r>
          </a:p>
          <a:p>
            <a:r>
              <a:rPr lang="en" sz="2800" dirty="0" smtClean="0"/>
              <a:t>     }  </a:t>
            </a:r>
          </a:p>
          <a:p>
            <a:r>
              <a:rPr lang="en" sz="2800" dirty="0" smtClean="0"/>
              <a:t>    }  </a:t>
            </a:r>
            <a:endParaRPr lang="en-US" sz="2800" dirty="0"/>
          </a:p>
        </p:txBody>
      </p:sp>
      <p:sp>
        <p:nvSpPr>
          <p:cNvPr id="3" name="Rectangle 2"/>
          <p:cNvSpPr/>
          <p:nvPr/>
        </p:nvSpPr>
        <p:spPr>
          <a:xfrm>
            <a:off x="5029200" y="2971800"/>
            <a:ext cx="1828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implements</a:t>
            </a:r>
            <a:endParaRPr lang="en-US" sz="2400" dirty="0">
              <a:solidFill>
                <a:schemeClr val="tx1"/>
              </a:solidFill>
            </a:endParaRPr>
          </a:p>
        </p:txBody>
      </p:sp>
      <p:pic>
        <p:nvPicPr>
          <p:cNvPr id="4" name="Picture 2"/>
          <p:cNvPicPr>
            <a:picLocks noChangeAspect="1" noChangeArrowheads="1"/>
          </p:cNvPicPr>
          <p:nvPr/>
        </p:nvPicPr>
        <p:blipFill>
          <a:blip r:embed="rId2" cstate="print"/>
          <a:srcRect/>
          <a:stretch>
            <a:fillRect/>
          </a:stretch>
        </p:blipFill>
        <p:spPr bwMode="auto">
          <a:xfrm>
            <a:off x="7315200" y="0"/>
            <a:ext cx="1097280" cy="114342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0"/>
            <a:ext cx="5562600" cy="492443"/>
          </a:xfrm>
          <a:prstGeom prst="rect">
            <a:avLst/>
          </a:prstGeom>
        </p:spPr>
        <p:txBody>
          <a:bodyPr wrap="square">
            <a:spAutoFit/>
          </a:bodyPr>
          <a:lstStyle/>
          <a:p>
            <a:r>
              <a:rPr lang="en-US" sz="2600" b="1" dirty="0" smtClean="0"/>
              <a:t>Interface inheritance</a:t>
            </a:r>
            <a:endParaRPr lang="en-US" sz="2600" b="1" dirty="0"/>
          </a:p>
        </p:txBody>
      </p:sp>
      <p:sp>
        <p:nvSpPr>
          <p:cNvPr id="3" name="Rectangle 2"/>
          <p:cNvSpPr/>
          <p:nvPr/>
        </p:nvSpPr>
        <p:spPr>
          <a:xfrm>
            <a:off x="381000" y="533400"/>
            <a:ext cx="7848600" cy="892552"/>
          </a:xfrm>
          <a:prstGeom prst="rect">
            <a:avLst/>
          </a:prstGeom>
        </p:spPr>
        <p:txBody>
          <a:bodyPr wrap="square">
            <a:spAutoFit/>
          </a:bodyPr>
          <a:lstStyle/>
          <a:p>
            <a:pPr algn="just"/>
            <a:r>
              <a:rPr lang="en-US" sz="2600" dirty="0" smtClean="0"/>
              <a:t>A class implements an interface, but one interface extends another interface.</a:t>
            </a:r>
            <a:endParaRPr lang="en-US" sz="2600" dirty="0"/>
          </a:p>
        </p:txBody>
      </p:sp>
      <p:sp>
        <p:nvSpPr>
          <p:cNvPr id="5" name="Rectangle 4"/>
          <p:cNvSpPr/>
          <p:nvPr/>
        </p:nvSpPr>
        <p:spPr>
          <a:xfrm>
            <a:off x="762000" y="1391483"/>
            <a:ext cx="7924800" cy="5632311"/>
          </a:xfrm>
          <a:prstGeom prst="rect">
            <a:avLst/>
          </a:prstGeom>
        </p:spPr>
        <p:txBody>
          <a:bodyPr wrap="square">
            <a:spAutoFit/>
          </a:bodyPr>
          <a:lstStyle/>
          <a:p>
            <a:r>
              <a:rPr lang="en-US" sz="2400" dirty="0" smtClean="0"/>
              <a:t>interface Interface1{  </a:t>
            </a:r>
          </a:p>
          <a:p>
            <a:r>
              <a:rPr lang="en-US" sz="2400" dirty="0" smtClean="0"/>
              <a:t>    void print();  </a:t>
            </a:r>
          </a:p>
          <a:p>
            <a:r>
              <a:rPr lang="en" sz="2400" dirty="0" smtClean="0"/>
              <a:t>    }  </a:t>
            </a:r>
          </a:p>
          <a:p>
            <a:r>
              <a:rPr lang="en-US" sz="2400" dirty="0" smtClean="0"/>
              <a:t>    interface Interface2                              Interface1{  </a:t>
            </a:r>
          </a:p>
          <a:p>
            <a:r>
              <a:rPr lang="en-US" sz="2400" dirty="0" smtClean="0"/>
              <a:t>    void show();  </a:t>
            </a:r>
          </a:p>
          <a:p>
            <a:r>
              <a:rPr lang="en" sz="2400" dirty="0" smtClean="0"/>
              <a:t>    }  </a:t>
            </a:r>
          </a:p>
          <a:p>
            <a:r>
              <a:rPr lang="en-US" sz="2400" dirty="0" smtClean="0"/>
              <a:t>    public class TestInterface4 implements Interface2{  </a:t>
            </a:r>
          </a:p>
          <a:p>
            <a:r>
              <a:rPr lang="en-US" sz="2400" dirty="0" smtClean="0"/>
              <a:t>    public void print(){</a:t>
            </a:r>
            <a:r>
              <a:rPr lang="en-US" sz="2400" dirty="0" err="1" smtClean="0"/>
              <a:t>System.out.println</a:t>
            </a:r>
            <a:r>
              <a:rPr lang="en-US" sz="2400" dirty="0" smtClean="0"/>
              <a:t>("Hello");}  </a:t>
            </a:r>
          </a:p>
          <a:p>
            <a:r>
              <a:rPr lang="en-US" sz="2400" dirty="0" smtClean="0"/>
              <a:t>    public void show(){</a:t>
            </a:r>
            <a:r>
              <a:rPr lang="en-US" sz="2400" dirty="0" err="1" smtClean="0"/>
              <a:t>System.out.println</a:t>
            </a:r>
            <a:r>
              <a:rPr lang="en-US" sz="2400" dirty="0" smtClean="0"/>
              <a:t>("Welcome");}  </a:t>
            </a:r>
          </a:p>
          <a:p>
            <a:r>
              <a:rPr lang="en-US" sz="2400" dirty="0" smtClean="0"/>
              <a:t>    public static void main(String </a:t>
            </a:r>
            <a:r>
              <a:rPr lang="en-US" sz="2400" dirty="0" err="1" smtClean="0"/>
              <a:t>args</a:t>
            </a:r>
            <a:r>
              <a:rPr lang="en-US" sz="2400" dirty="0" smtClean="0"/>
              <a:t>[]){  </a:t>
            </a:r>
          </a:p>
          <a:p>
            <a:r>
              <a:rPr lang="en-US" sz="2400" dirty="0" smtClean="0"/>
              <a:t>    TestInterface4 </a:t>
            </a:r>
            <a:r>
              <a:rPr lang="en-US" sz="2400" dirty="0" err="1" smtClean="0"/>
              <a:t>obj</a:t>
            </a:r>
            <a:r>
              <a:rPr lang="en-US" sz="2400" dirty="0" smtClean="0"/>
              <a:t> = new TestInterface4();  </a:t>
            </a:r>
          </a:p>
          <a:p>
            <a:r>
              <a:rPr lang="en-US" sz="2400" dirty="0" smtClean="0"/>
              <a:t>    </a:t>
            </a:r>
            <a:r>
              <a:rPr lang="en-US" sz="2400" dirty="0" err="1" smtClean="0"/>
              <a:t>obj.print</a:t>
            </a:r>
            <a:r>
              <a:rPr lang="en-US" sz="2400" dirty="0" smtClean="0"/>
              <a:t>();  </a:t>
            </a:r>
          </a:p>
          <a:p>
            <a:r>
              <a:rPr lang="en-US" sz="2400" dirty="0" smtClean="0"/>
              <a:t>    </a:t>
            </a:r>
            <a:r>
              <a:rPr lang="en-US" sz="2400" dirty="0" err="1" smtClean="0"/>
              <a:t>obj.show</a:t>
            </a:r>
            <a:r>
              <a:rPr lang="en-US" sz="2400" dirty="0" smtClean="0"/>
              <a:t>();  </a:t>
            </a:r>
          </a:p>
          <a:p>
            <a:r>
              <a:rPr lang="en" sz="2400" dirty="0" smtClean="0"/>
              <a:t>     }  </a:t>
            </a:r>
          </a:p>
          <a:p>
            <a:r>
              <a:rPr lang="en" sz="2400" dirty="0" smtClean="0"/>
              <a:t>    }  </a:t>
            </a:r>
          </a:p>
        </p:txBody>
      </p:sp>
      <p:sp>
        <p:nvSpPr>
          <p:cNvPr id="6" name="Rectangle 5"/>
          <p:cNvSpPr/>
          <p:nvPr/>
        </p:nvSpPr>
        <p:spPr>
          <a:xfrm>
            <a:off x="4114800" y="2514600"/>
            <a:ext cx="1828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extends</a:t>
            </a:r>
            <a:endParaRPr lang="en-US" sz="2400" dirty="0">
              <a:solidFill>
                <a:schemeClr val="tx1"/>
              </a:solidFill>
            </a:endParaRPr>
          </a:p>
        </p:txBody>
      </p:sp>
      <p:pic>
        <p:nvPicPr>
          <p:cNvPr id="7" name="Picture 2"/>
          <p:cNvPicPr>
            <a:picLocks noChangeAspect="1" noChangeArrowheads="1"/>
          </p:cNvPicPr>
          <p:nvPr/>
        </p:nvPicPr>
        <p:blipFill>
          <a:blip r:embed="rId2" cstate="print"/>
          <a:srcRect/>
          <a:stretch>
            <a:fillRect/>
          </a:stretch>
        </p:blipFill>
        <p:spPr bwMode="auto">
          <a:xfrm>
            <a:off x="7772400" y="0"/>
            <a:ext cx="1097280" cy="68579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0"/>
            <a:ext cx="8382000" cy="892552"/>
          </a:xfrm>
          <a:prstGeom prst="rect">
            <a:avLst/>
          </a:prstGeom>
        </p:spPr>
        <p:txBody>
          <a:bodyPr wrap="square">
            <a:spAutoFit/>
          </a:bodyPr>
          <a:lstStyle/>
          <a:p>
            <a:pPr algn="just"/>
            <a:r>
              <a:rPr lang="en-US" sz="2600" dirty="0" smtClean="0"/>
              <a:t>Since Java 8, we can have method body in interface. But we need to make it default method. </a:t>
            </a:r>
            <a:endParaRPr lang="en-US" sz="2600" dirty="0"/>
          </a:p>
        </p:txBody>
      </p:sp>
      <p:sp>
        <p:nvSpPr>
          <p:cNvPr id="3" name="Rectangle 2"/>
          <p:cNvSpPr/>
          <p:nvPr/>
        </p:nvSpPr>
        <p:spPr>
          <a:xfrm>
            <a:off x="381000" y="1295400"/>
            <a:ext cx="8305800" cy="5478423"/>
          </a:xfrm>
          <a:prstGeom prst="rect">
            <a:avLst/>
          </a:prstGeom>
        </p:spPr>
        <p:txBody>
          <a:bodyPr wrap="square">
            <a:spAutoFit/>
          </a:bodyPr>
          <a:lstStyle/>
          <a:p>
            <a:r>
              <a:rPr lang="en-US" sz="2500" dirty="0" smtClean="0"/>
              <a:t>interface </a:t>
            </a:r>
            <a:r>
              <a:rPr lang="en-US" sz="2500" dirty="0" err="1" smtClean="0"/>
              <a:t>Drawable</a:t>
            </a:r>
            <a:r>
              <a:rPr lang="en-US" sz="2500" dirty="0" smtClean="0"/>
              <a:t>{  </a:t>
            </a:r>
          </a:p>
          <a:p>
            <a:r>
              <a:rPr lang="en-US" sz="2500" dirty="0" smtClean="0"/>
              <a:t>    void draw();  </a:t>
            </a:r>
          </a:p>
          <a:p>
            <a:r>
              <a:rPr lang="en-US" sz="2500" dirty="0" smtClean="0"/>
              <a:t>    default void </a:t>
            </a:r>
            <a:r>
              <a:rPr lang="en-US" sz="2500" dirty="0" err="1" smtClean="0"/>
              <a:t>msg</a:t>
            </a:r>
            <a:r>
              <a:rPr lang="en-US" sz="2500" dirty="0" smtClean="0"/>
              <a:t>(){</a:t>
            </a:r>
            <a:r>
              <a:rPr lang="en-US" sz="2500" dirty="0" err="1" smtClean="0"/>
              <a:t>System.out.println</a:t>
            </a:r>
            <a:r>
              <a:rPr lang="en-US" sz="2500" dirty="0" smtClean="0"/>
              <a:t>("default method");}  </a:t>
            </a:r>
          </a:p>
          <a:p>
            <a:r>
              <a:rPr lang="en" sz="2500" dirty="0" smtClean="0"/>
              <a:t>    }  </a:t>
            </a:r>
          </a:p>
          <a:p>
            <a:r>
              <a:rPr lang="en-US" sz="2500" dirty="0" smtClean="0"/>
              <a:t>    class Rectangle implements </a:t>
            </a:r>
            <a:r>
              <a:rPr lang="en-US" sz="2500" dirty="0" err="1" smtClean="0"/>
              <a:t>Drawable</a:t>
            </a:r>
            <a:r>
              <a:rPr lang="en-US" sz="2500" dirty="0" smtClean="0"/>
              <a:t>{  </a:t>
            </a:r>
          </a:p>
          <a:p>
            <a:r>
              <a:rPr lang="en-US" sz="2500" dirty="0" smtClean="0"/>
              <a:t>    public void draw(){</a:t>
            </a:r>
            <a:r>
              <a:rPr lang="en-US" sz="2500" dirty="0" err="1" smtClean="0"/>
              <a:t>System.out.println</a:t>
            </a:r>
            <a:r>
              <a:rPr lang="en-US" sz="2500" dirty="0" smtClean="0"/>
              <a:t>("drawing rectangle");}  </a:t>
            </a:r>
          </a:p>
          <a:p>
            <a:r>
              <a:rPr lang="en" sz="2500" dirty="0" smtClean="0"/>
              <a:t>    }  </a:t>
            </a:r>
          </a:p>
          <a:p>
            <a:r>
              <a:rPr lang="en-US" sz="2500" dirty="0" smtClean="0"/>
              <a:t>    public class </a:t>
            </a:r>
            <a:r>
              <a:rPr lang="en-US" sz="2500" dirty="0" err="1" smtClean="0"/>
              <a:t>TestInterfaceDefault</a:t>
            </a:r>
            <a:r>
              <a:rPr lang="en-US" sz="2500" dirty="0" smtClean="0"/>
              <a:t>{  </a:t>
            </a:r>
          </a:p>
          <a:p>
            <a:r>
              <a:rPr lang="en-US" sz="2500" dirty="0" smtClean="0"/>
              <a:t>    public static void main(String </a:t>
            </a:r>
            <a:r>
              <a:rPr lang="en-US" sz="2500" dirty="0" err="1" smtClean="0"/>
              <a:t>args</a:t>
            </a:r>
            <a:r>
              <a:rPr lang="en-US" sz="2500" dirty="0" smtClean="0"/>
              <a:t>[]){  </a:t>
            </a:r>
          </a:p>
          <a:p>
            <a:r>
              <a:rPr lang="en-US" sz="2500" dirty="0" smtClean="0"/>
              <a:t>    </a:t>
            </a:r>
          </a:p>
          <a:p>
            <a:r>
              <a:rPr lang="en" sz="2500" dirty="0" smtClean="0"/>
              <a:t>  </a:t>
            </a:r>
          </a:p>
          <a:p>
            <a:endParaRPr lang="en" sz="2500" dirty="0" smtClean="0"/>
          </a:p>
          <a:p>
            <a:endParaRPr lang="en" sz="2500" dirty="0" smtClean="0"/>
          </a:p>
          <a:p>
            <a:r>
              <a:rPr lang="en" sz="2500" dirty="0" smtClean="0"/>
              <a:t>  }}  </a:t>
            </a:r>
            <a:endParaRPr lang="en-US" sz="2500" dirty="0"/>
          </a:p>
        </p:txBody>
      </p:sp>
      <p:sp>
        <p:nvSpPr>
          <p:cNvPr id="4" name="Rectangle 3"/>
          <p:cNvSpPr/>
          <p:nvPr/>
        </p:nvSpPr>
        <p:spPr>
          <a:xfrm>
            <a:off x="762000" y="4953000"/>
            <a:ext cx="39624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err="1" smtClean="0">
                <a:solidFill>
                  <a:schemeClr val="tx1"/>
                </a:solidFill>
              </a:rPr>
              <a:t>Drawable</a:t>
            </a:r>
            <a:r>
              <a:rPr lang="en-US" sz="2400" dirty="0" smtClean="0">
                <a:solidFill>
                  <a:schemeClr val="tx1"/>
                </a:solidFill>
              </a:rPr>
              <a:t> d=new Rectangle();  </a:t>
            </a:r>
          </a:p>
          <a:p>
            <a:r>
              <a:rPr lang="en-US" sz="2400" dirty="0" smtClean="0">
                <a:solidFill>
                  <a:schemeClr val="tx1"/>
                </a:solidFill>
              </a:rPr>
              <a:t>    </a:t>
            </a:r>
            <a:r>
              <a:rPr lang="en-US" sz="2400" dirty="0" err="1" smtClean="0">
                <a:solidFill>
                  <a:schemeClr val="tx1"/>
                </a:solidFill>
              </a:rPr>
              <a:t>d.draw</a:t>
            </a:r>
            <a:r>
              <a:rPr lang="en-US" sz="2400" dirty="0" smtClean="0">
                <a:solidFill>
                  <a:schemeClr val="tx1"/>
                </a:solidFill>
              </a:rPr>
              <a:t>();  </a:t>
            </a:r>
          </a:p>
          <a:p>
            <a:r>
              <a:rPr lang="en-US" sz="2400" dirty="0" smtClean="0">
                <a:solidFill>
                  <a:schemeClr val="tx1"/>
                </a:solidFill>
              </a:rPr>
              <a:t>    d.msg();</a:t>
            </a:r>
            <a:endParaRPr 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33400"/>
            <a:ext cx="8458200" cy="492443"/>
          </a:xfrm>
          <a:prstGeom prst="rect">
            <a:avLst/>
          </a:prstGeom>
        </p:spPr>
        <p:txBody>
          <a:bodyPr wrap="square">
            <a:spAutoFit/>
          </a:bodyPr>
          <a:lstStyle/>
          <a:p>
            <a:r>
              <a:rPr lang="en-US" sz="2600" dirty="0" smtClean="0"/>
              <a:t>Since Java 8, we can have static method in interface. </a:t>
            </a:r>
            <a:endParaRPr lang="en-US" sz="2600" dirty="0"/>
          </a:p>
        </p:txBody>
      </p:sp>
      <p:sp>
        <p:nvSpPr>
          <p:cNvPr id="3" name="Rectangle 2"/>
          <p:cNvSpPr/>
          <p:nvPr/>
        </p:nvSpPr>
        <p:spPr>
          <a:xfrm>
            <a:off x="228600" y="1219200"/>
            <a:ext cx="8001000" cy="5478423"/>
          </a:xfrm>
          <a:prstGeom prst="rect">
            <a:avLst/>
          </a:prstGeom>
        </p:spPr>
        <p:txBody>
          <a:bodyPr wrap="square">
            <a:spAutoFit/>
          </a:bodyPr>
          <a:lstStyle/>
          <a:p>
            <a:r>
              <a:rPr lang="en-US" sz="2500" dirty="0" smtClean="0"/>
              <a:t>interface </a:t>
            </a:r>
            <a:r>
              <a:rPr lang="en-US" sz="2500" dirty="0" err="1" smtClean="0"/>
              <a:t>Drawable</a:t>
            </a:r>
            <a:r>
              <a:rPr lang="en-US" sz="2500" dirty="0" smtClean="0"/>
              <a:t>{  </a:t>
            </a:r>
          </a:p>
          <a:p>
            <a:r>
              <a:rPr lang="en-US" sz="2500" dirty="0" smtClean="0"/>
              <a:t>    void draw();  </a:t>
            </a:r>
          </a:p>
          <a:p>
            <a:r>
              <a:rPr lang="en-US" sz="2500" dirty="0" smtClean="0"/>
              <a:t>    static </a:t>
            </a:r>
            <a:r>
              <a:rPr lang="en-US" sz="2500" dirty="0" err="1" smtClean="0"/>
              <a:t>int</a:t>
            </a:r>
            <a:r>
              <a:rPr lang="en-US" sz="2500" dirty="0" smtClean="0"/>
              <a:t> square(</a:t>
            </a:r>
            <a:r>
              <a:rPr lang="en-US" sz="2500" dirty="0" err="1" smtClean="0"/>
              <a:t>int</a:t>
            </a:r>
            <a:r>
              <a:rPr lang="en-US" sz="2500" dirty="0" smtClean="0"/>
              <a:t> x){return x*x;}  </a:t>
            </a:r>
          </a:p>
          <a:p>
            <a:r>
              <a:rPr lang="en" sz="2500" dirty="0" smtClean="0"/>
              <a:t>    }  </a:t>
            </a:r>
          </a:p>
          <a:p>
            <a:r>
              <a:rPr lang="en-US" sz="2500" dirty="0" smtClean="0"/>
              <a:t>    class Rectangle implements </a:t>
            </a:r>
            <a:r>
              <a:rPr lang="en-US" sz="2500" dirty="0" err="1" smtClean="0"/>
              <a:t>Drawable</a:t>
            </a:r>
            <a:r>
              <a:rPr lang="en-US" sz="2500" dirty="0" smtClean="0"/>
              <a:t>{  </a:t>
            </a:r>
          </a:p>
          <a:p>
            <a:r>
              <a:rPr lang="en-US" sz="2500" dirty="0" smtClean="0"/>
              <a:t>    public void draw(){</a:t>
            </a:r>
            <a:r>
              <a:rPr lang="en-US" sz="2500" dirty="0" err="1" smtClean="0"/>
              <a:t>System.out.println</a:t>
            </a:r>
            <a:r>
              <a:rPr lang="en-US" sz="2500" dirty="0" smtClean="0"/>
              <a:t>("drawing rectangle");}  </a:t>
            </a:r>
          </a:p>
          <a:p>
            <a:r>
              <a:rPr lang="en" sz="2500" dirty="0" smtClean="0"/>
              <a:t>    }  </a:t>
            </a:r>
          </a:p>
          <a:p>
            <a:r>
              <a:rPr lang="en-US" sz="2500" dirty="0" smtClean="0"/>
              <a:t>    public class </a:t>
            </a:r>
            <a:r>
              <a:rPr lang="en-US" sz="2500" dirty="0" err="1" smtClean="0"/>
              <a:t>TestInterfaceStatic</a:t>
            </a:r>
            <a:r>
              <a:rPr lang="en-US" sz="2500" dirty="0" smtClean="0"/>
              <a:t>{  </a:t>
            </a:r>
          </a:p>
          <a:p>
            <a:r>
              <a:rPr lang="en-US" sz="2500" dirty="0" smtClean="0"/>
              <a:t>    public static void main(String </a:t>
            </a:r>
            <a:r>
              <a:rPr lang="en-US" sz="2500" dirty="0" err="1" smtClean="0"/>
              <a:t>args</a:t>
            </a:r>
            <a:r>
              <a:rPr lang="en-US" sz="2500" dirty="0" smtClean="0"/>
              <a:t>[]){  </a:t>
            </a:r>
          </a:p>
          <a:p>
            <a:r>
              <a:rPr lang="en-US" sz="2500" dirty="0" smtClean="0"/>
              <a:t>    </a:t>
            </a:r>
            <a:r>
              <a:rPr lang="en-US" sz="2500" dirty="0" err="1" smtClean="0"/>
              <a:t>Drawable</a:t>
            </a:r>
            <a:r>
              <a:rPr lang="en-US" sz="2500" dirty="0" smtClean="0"/>
              <a:t> d=new Rectangle();  </a:t>
            </a:r>
          </a:p>
          <a:p>
            <a:r>
              <a:rPr lang="en-US" sz="2500" dirty="0" smtClean="0"/>
              <a:t>    </a:t>
            </a:r>
            <a:r>
              <a:rPr lang="en-US" sz="2500" dirty="0" err="1" smtClean="0"/>
              <a:t>d.draw</a:t>
            </a:r>
            <a:r>
              <a:rPr lang="en-US" sz="2500" dirty="0" smtClean="0"/>
              <a:t>();  </a:t>
            </a:r>
          </a:p>
          <a:p>
            <a:r>
              <a:rPr lang="en-US" sz="2500" dirty="0" smtClean="0"/>
              <a:t>    </a:t>
            </a:r>
          </a:p>
          <a:p>
            <a:r>
              <a:rPr lang="en" sz="2500" dirty="0" smtClean="0"/>
              <a:t>    }}  </a:t>
            </a:r>
          </a:p>
        </p:txBody>
      </p:sp>
      <p:sp>
        <p:nvSpPr>
          <p:cNvPr id="4" name="Rectangle 3"/>
          <p:cNvSpPr/>
          <p:nvPr/>
        </p:nvSpPr>
        <p:spPr>
          <a:xfrm>
            <a:off x="609600" y="5791200"/>
            <a:ext cx="5943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err="1" smtClean="0">
                <a:solidFill>
                  <a:schemeClr val="tx1"/>
                </a:solidFill>
              </a:rPr>
              <a:t>System.out.println</a:t>
            </a:r>
            <a:r>
              <a:rPr lang="en-US" sz="2400" dirty="0" smtClean="0">
                <a:solidFill>
                  <a:schemeClr val="tx1"/>
                </a:solidFill>
              </a:rPr>
              <a:t>(</a:t>
            </a:r>
            <a:r>
              <a:rPr lang="en-US" sz="2400" dirty="0" err="1" smtClean="0">
                <a:solidFill>
                  <a:schemeClr val="tx1"/>
                </a:solidFill>
              </a:rPr>
              <a:t>Drawable.square</a:t>
            </a:r>
            <a:r>
              <a:rPr lang="en-US" sz="2400" dirty="0" smtClean="0">
                <a:solidFill>
                  <a:schemeClr val="tx1"/>
                </a:solidFill>
              </a:rPr>
              <a:t>(3));</a:t>
            </a:r>
            <a:endParaRPr lang="en-US" sz="2400" dirty="0">
              <a:solidFill>
                <a:schemeClr val="tx1"/>
              </a:solidFill>
            </a:endParaRPr>
          </a:p>
        </p:txBody>
      </p:sp>
      <p:pic>
        <p:nvPicPr>
          <p:cNvPr id="5" name="Picture 2"/>
          <p:cNvPicPr>
            <a:picLocks noChangeAspect="1" noChangeArrowheads="1"/>
          </p:cNvPicPr>
          <p:nvPr/>
        </p:nvPicPr>
        <p:blipFill>
          <a:blip r:embed="rId2" cstate="print"/>
          <a:srcRect/>
          <a:stretch>
            <a:fillRect/>
          </a:stretch>
        </p:blipFill>
        <p:spPr bwMode="auto">
          <a:xfrm>
            <a:off x="7696200" y="0"/>
            <a:ext cx="1097280" cy="114342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533400"/>
            <a:ext cx="8229600" cy="5693866"/>
          </a:xfrm>
          <a:prstGeom prst="rect">
            <a:avLst/>
          </a:prstGeom>
        </p:spPr>
        <p:txBody>
          <a:bodyPr wrap="square">
            <a:spAutoFit/>
          </a:bodyPr>
          <a:lstStyle/>
          <a:p>
            <a:r>
              <a:rPr lang="en-US" sz="2800" dirty="0" smtClean="0"/>
              <a:t>import </a:t>
            </a:r>
            <a:r>
              <a:rPr lang="en-US" sz="2800" dirty="0" err="1" smtClean="0"/>
              <a:t>java.lang</a:t>
            </a:r>
            <a:r>
              <a:rPr lang="en-US" sz="2800" dirty="0" smtClean="0"/>
              <a:t>.*;</a:t>
            </a:r>
          </a:p>
          <a:p>
            <a:r>
              <a:rPr lang="en-US" sz="2800" dirty="0" smtClean="0"/>
              <a:t>import </a:t>
            </a:r>
            <a:r>
              <a:rPr lang="en-US" sz="2800" dirty="0" err="1" smtClean="0"/>
              <a:t>java.text</a:t>
            </a:r>
            <a:r>
              <a:rPr lang="en-US" sz="2800" dirty="0" smtClean="0"/>
              <a:t>.*;</a:t>
            </a:r>
          </a:p>
          <a:p>
            <a:r>
              <a:rPr lang="en-US" sz="2800" dirty="0" smtClean="0"/>
              <a:t>public class </a:t>
            </a:r>
            <a:r>
              <a:rPr lang="en-US" sz="2800" dirty="0" err="1" smtClean="0"/>
              <a:t>Gfg</a:t>
            </a:r>
            <a:r>
              <a:rPr lang="en-US" sz="2800" dirty="0" smtClean="0"/>
              <a:t> { </a:t>
            </a:r>
          </a:p>
          <a:p>
            <a:r>
              <a:rPr lang="en-US" sz="2800" dirty="0" smtClean="0"/>
              <a:t>	public static void main(String </a:t>
            </a:r>
            <a:r>
              <a:rPr lang="en-US" sz="2800" dirty="0" err="1" smtClean="0"/>
              <a:t>args</a:t>
            </a:r>
            <a:r>
              <a:rPr lang="en-US" sz="2800" dirty="0" smtClean="0"/>
              <a:t>[]) </a:t>
            </a:r>
          </a:p>
          <a:p>
            <a:r>
              <a:rPr lang="en" sz="2800" dirty="0" smtClean="0"/>
              <a:t>	{ </a:t>
            </a:r>
          </a:p>
          <a:p>
            <a:r>
              <a:rPr lang="en-US" sz="2800" dirty="0" smtClean="0"/>
              <a:t>	</a:t>
            </a:r>
            <a:r>
              <a:rPr lang="en-US" sz="2800" dirty="0" smtClean="0"/>
              <a:t>double </a:t>
            </a:r>
            <a:r>
              <a:rPr lang="en-US" sz="2800" dirty="0" smtClean="0"/>
              <a:t>a = 30; </a:t>
            </a:r>
          </a:p>
          <a:p>
            <a:r>
              <a:rPr lang="en-US" sz="2800" dirty="0" smtClean="0"/>
              <a:t>	</a:t>
            </a:r>
            <a:r>
              <a:rPr lang="en-US" sz="2800" dirty="0" err="1" smtClean="0"/>
              <a:t>DecimalFormat</a:t>
            </a:r>
            <a:r>
              <a:rPr lang="en-US" sz="2800" dirty="0" smtClean="0"/>
              <a:t> </a:t>
            </a:r>
            <a:r>
              <a:rPr lang="en-US" sz="2800" dirty="0" err="1" smtClean="0"/>
              <a:t>df</a:t>
            </a:r>
            <a:r>
              <a:rPr lang="en-US" sz="2800" dirty="0" smtClean="0"/>
              <a:t>=new </a:t>
            </a:r>
            <a:r>
              <a:rPr lang="en-US" sz="2800" dirty="0" err="1" smtClean="0"/>
              <a:t>DecimalFormat</a:t>
            </a:r>
            <a:r>
              <a:rPr lang="en-US" sz="2800" dirty="0" smtClean="0"/>
              <a:t>("#.###");</a:t>
            </a:r>
          </a:p>
          <a:p>
            <a:r>
              <a:rPr lang="en-US" sz="2800" dirty="0" smtClean="0"/>
              <a:t>	</a:t>
            </a:r>
            <a:r>
              <a:rPr lang="en-US" sz="2800" dirty="0" err="1" smtClean="0"/>
              <a:t>System.out.println</a:t>
            </a:r>
            <a:r>
              <a:rPr lang="en-US" sz="2800" dirty="0" smtClean="0"/>
              <a:t>(</a:t>
            </a:r>
            <a:r>
              <a:rPr lang="en-US" sz="2800" dirty="0" err="1" smtClean="0"/>
              <a:t>df.format</a:t>
            </a:r>
            <a:r>
              <a:rPr lang="en-US" sz="2800" dirty="0" smtClean="0"/>
              <a:t>(</a:t>
            </a:r>
            <a:r>
              <a:rPr lang="en-US" sz="2800" dirty="0" err="1" smtClean="0"/>
              <a:t>Math.sqrt</a:t>
            </a:r>
            <a:r>
              <a:rPr lang="en-US" sz="2800" dirty="0" smtClean="0"/>
              <a:t>(a</a:t>
            </a:r>
            <a:r>
              <a:rPr lang="en-US" sz="2800" dirty="0" smtClean="0"/>
              <a:t>))); </a:t>
            </a:r>
          </a:p>
          <a:p>
            <a:r>
              <a:rPr lang="en-US" sz="2800" dirty="0" smtClean="0"/>
              <a:t>	</a:t>
            </a:r>
            <a:r>
              <a:rPr lang="en-US" sz="2800" dirty="0" smtClean="0"/>
              <a:t>a </a:t>
            </a:r>
            <a:r>
              <a:rPr lang="en-US" sz="2800" dirty="0" smtClean="0"/>
              <a:t>= 45; </a:t>
            </a:r>
          </a:p>
          <a:p>
            <a:r>
              <a:rPr lang="en-US" sz="2800" dirty="0" smtClean="0"/>
              <a:t>	</a:t>
            </a:r>
            <a:r>
              <a:rPr lang="en-US" sz="2800" dirty="0" err="1" smtClean="0"/>
              <a:t>System.out.println</a:t>
            </a:r>
            <a:r>
              <a:rPr lang="en-US" sz="2800" dirty="0" smtClean="0"/>
              <a:t>(</a:t>
            </a:r>
            <a:r>
              <a:rPr lang="en-US" sz="2800" dirty="0" err="1" smtClean="0"/>
              <a:t>df.format</a:t>
            </a:r>
            <a:r>
              <a:rPr lang="en-US" sz="2800" dirty="0" smtClean="0"/>
              <a:t>(</a:t>
            </a:r>
            <a:r>
              <a:rPr lang="en-US" sz="2800" dirty="0" err="1" smtClean="0"/>
              <a:t>Math.sqrt</a:t>
            </a:r>
            <a:r>
              <a:rPr lang="en-US" sz="2800" dirty="0" smtClean="0"/>
              <a:t>(a</a:t>
            </a:r>
            <a:r>
              <a:rPr lang="en-US" sz="2800" dirty="0" smtClean="0"/>
              <a:t>))); </a:t>
            </a:r>
          </a:p>
          <a:p>
            <a:r>
              <a:rPr lang="en" sz="2800" dirty="0" smtClean="0"/>
              <a:t>		} </a:t>
            </a:r>
          </a:p>
          <a:p>
            <a:r>
              <a:rPr lang="en" sz="2800" dirty="0" smtClean="0"/>
              <a:t>} </a:t>
            </a:r>
          </a:p>
          <a:p>
            <a:endParaRPr lang="en" sz="28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Ex-2</a:t>
            </a:r>
            <a:endParaRPr lang="en-US" dirty="0"/>
          </a:p>
        </p:txBody>
      </p:sp>
      <p:sp>
        <p:nvSpPr>
          <p:cNvPr id="3" name="Content Placeholder 2"/>
          <p:cNvSpPr>
            <a:spLocks noGrp="1"/>
          </p:cNvSpPr>
          <p:nvPr>
            <p:ph sz="quarter" idx="1"/>
          </p:nvPr>
        </p:nvSpPr>
        <p:spPr/>
        <p:txBody>
          <a:bodyPr>
            <a:normAutofit fontScale="85000" lnSpcReduction="10000"/>
          </a:bodyPr>
          <a:lstStyle/>
          <a:p>
            <a:r>
              <a:rPr lang="en-US" dirty="0" smtClean="0"/>
              <a:t>import </a:t>
            </a:r>
            <a:r>
              <a:rPr lang="en-US" dirty="0" err="1" smtClean="0"/>
              <a:t>java.text.DecimalFormat</a:t>
            </a:r>
            <a:r>
              <a:rPr lang="en-US" dirty="0" smtClean="0"/>
              <a:t>;</a:t>
            </a:r>
          </a:p>
          <a:p>
            <a:r>
              <a:rPr lang="en-US" dirty="0" smtClean="0"/>
              <a:t>public class Main {</a:t>
            </a:r>
          </a:p>
          <a:p>
            <a:r>
              <a:rPr lang="en-US" dirty="0" smtClean="0"/>
              <a:t>    public static void main(String[] </a:t>
            </a:r>
            <a:r>
              <a:rPr lang="en-US" dirty="0" err="1" smtClean="0"/>
              <a:t>args</a:t>
            </a:r>
            <a:r>
              <a:rPr lang="en-US" dirty="0" smtClean="0"/>
              <a:t>)</a:t>
            </a:r>
          </a:p>
          <a:p>
            <a:r>
              <a:rPr lang="en" dirty="0" smtClean="0"/>
              <a:t>    {</a:t>
            </a:r>
          </a:p>
          <a:p>
            <a:r>
              <a:rPr lang="en" dirty="0" smtClean="0"/>
              <a:t>  </a:t>
            </a:r>
            <a:r>
              <a:rPr lang="en-US" dirty="0" smtClean="0"/>
              <a:t>      // </a:t>
            </a:r>
            <a:r>
              <a:rPr lang="en-US" dirty="0" smtClean="0"/>
              <a:t>Create the </a:t>
            </a:r>
            <a:r>
              <a:rPr lang="en-US" dirty="0" err="1" smtClean="0"/>
              <a:t>DecimalFormat</a:t>
            </a:r>
            <a:r>
              <a:rPr lang="en-US" dirty="0" smtClean="0"/>
              <a:t> Instance</a:t>
            </a:r>
          </a:p>
          <a:p>
            <a:r>
              <a:rPr lang="en-US" dirty="0" smtClean="0"/>
              <a:t>        </a:t>
            </a:r>
            <a:r>
              <a:rPr lang="en-US" dirty="0" err="1" smtClean="0"/>
              <a:t>DecimalFormat</a:t>
            </a:r>
            <a:r>
              <a:rPr lang="en-US" dirty="0" smtClean="0"/>
              <a:t> </a:t>
            </a:r>
            <a:r>
              <a:rPr lang="en-US" dirty="0" err="1" smtClean="0"/>
              <a:t>deciFormat</a:t>
            </a:r>
            <a:r>
              <a:rPr lang="en-US" dirty="0" smtClean="0"/>
              <a:t> = new </a:t>
            </a:r>
            <a:r>
              <a:rPr lang="en-US" dirty="0" err="1" smtClean="0"/>
              <a:t>DecimalFormat</a:t>
            </a:r>
            <a:r>
              <a:rPr lang="en-US" dirty="0" smtClean="0"/>
              <a:t>();</a:t>
            </a:r>
          </a:p>
          <a:p>
            <a:r>
              <a:rPr lang="en" dirty="0" smtClean="0"/>
              <a:t>  </a:t>
            </a:r>
            <a:r>
              <a:rPr lang="en-US" dirty="0" smtClean="0"/>
              <a:t>     </a:t>
            </a:r>
            <a:r>
              <a:rPr lang="en-US" dirty="0" err="1" smtClean="0"/>
              <a:t>deciFormat.setMaximumFractionDigits</a:t>
            </a:r>
            <a:r>
              <a:rPr lang="en-US" dirty="0" smtClean="0"/>
              <a:t>(1</a:t>
            </a:r>
            <a:r>
              <a:rPr lang="en-US" dirty="0" smtClean="0"/>
              <a:t>);</a:t>
            </a:r>
          </a:p>
          <a:p>
            <a:r>
              <a:rPr lang="en" dirty="0" smtClean="0"/>
              <a:t>  </a:t>
            </a:r>
            <a:r>
              <a:rPr lang="en-US" dirty="0" smtClean="0"/>
              <a:t>      </a:t>
            </a:r>
            <a:r>
              <a:rPr lang="en-US" dirty="0" err="1" smtClean="0"/>
              <a:t>System.out.println</a:t>
            </a:r>
            <a:r>
              <a:rPr lang="en-US" dirty="0" smtClean="0"/>
              <a:t>(</a:t>
            </a:r>
            <a:r>
              <a:rPr lang="en-US" dirty="0" err="1" smtClean="0"/>
              <a:t>deciFormat.format</a:t>
            </a:r>
            <a:r>
              <a:rPr lang="en-US" dirty="0" smtClean="0"/>
              <a:t>(12.3456789</a:t>
            </a:r>
            <a:r>
              <a:rPr lang="en-US" dirty="0" smtClean="0"/>
              <a:t>));</a:t>
            </a:r>
          </a:p>
          <a:p>
            <a:r>
              <a:rPr lang="en" dirty="0" smtClean="0"/>
              <a:t>    }</a:t>
            </a:r>
          </a:p>
          <a:p>
            <a:r>
              <a:rPr lang="en" dirty="0" smtClean="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95400" y="2286000"/>
            <a:ext cx="6682920" cy="492443"/>
          </a:xfrm>
          <a:prstGeom prst="rect">
            <a:avLst/>
          </a:prstGeom>
          <a:noFill/>
        </p:spPr>
        <p:txBody>
          <a:bodyPr wrap="none" rtlCol="0">
            <a:spAutoFit/>
          </a:bodyPr>
          <a:lstStyle/>
          <a:p>
            <a:r>
              <a:rPr lang="en-US" sz="2600" dirty="0" smtClean="0"/>
              <a:t>Difference between Abstract class and Interface?</a:t>
            </a:r>
            <a:endParaRPr lang="en-US" sz="2600" dirty="0"/>
          </a:p>
        </p:txBody>
      </p:sp>
      <p:pic>
        <p:nvPicPr>
          <p:cNvPr id="3" name="Picture 2"/>
          <p:cNvPicPr>
            <a:picLocks noChangeAspect="1" noChangeArrowheads="1"/>
          </p:cNvPicPr>
          <p:nvPr/>
        </p:nvPicPr>
        <p:blipFill>
          <a:blip r:embed="rId2" cstate="print"/>
          <a:srcRect/>
          <a:stretch>
            <a:fillRect/>
          </a:stretch>
        </p:blipFill>
        <p:spPr bwMode="auto">
          <a:xfrm>
            <a:off x="76200" y="75773"/>
            <a:ext cx="1097280" cy="11434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35167</TotalTime>
  <Words>793</Words>
  <Application>Microsoft Office PowerPoint</Application>
  <PresentationFormat>On-screen Show (4:3)</PresentationFormat>
  <Paragraphs>169</Paragraphs>
  <Slides>18</Slides>
  <Notes>4</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Median</vt:lpstr>
      <vt:lpstr>Slide 1</vt:lpstr>
      <vt:lpstr>Program</vt:lpstr>
      <vt:lpstr>interface</vt:lpstr>
      <vt:lpstr>How to declare an interface?</vt:lpstr>
      <vt:lpstr>The relationship between classes and interfaces</vt:lpstr>
      <vt:lpstr>Example</vt:lpstr>
      <vt:lpstr>Slide 7</vt:lpstr>
      <vt:lpstr>Slide 8</vt:lpstr>
      <vt:lpstr>Slide 9</vt:lpstr>
      <vt:lpstr>Slide 10</vt:lpstr>
      <vt:lpstr>Slide 11</vt:lpstr>
      <vt:lpstr>Slide 12</vt:lpstr>
      <vt:lpstr>Slide 13</vt:lpstr>
      <vt:lpstr>Slide 14</vt:lpstr>
      <vt:lpstr>Slide 15</vt:lpstr>
      <vt:lpstr>Slide 16</vt:lpstr>
      <vt:lpstr>Ex-2</vt:lpstr>
      <vt:lpstr>Slide 18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Image Processing</dc:title>
  <dc:creator>TANUJ</dc:creator>
  <cp:lastModifiedBy>glau</cp:lastModifiedBy>
  <cp:revision>647</cp:revision>
  <dcterms:created xsi:type="dcterms:W3CDTF">2011-06-11T07:20:39Z</dcterms:created>
  <dcterms:modified xsi:type="dcterms:W3CDTF">2021-09-28T04:55:29Z</dcterms:modified>
</cp:coreProperties>
</file>