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0"/>
  </p:notesMasterIdLst>
  <p:sldIdLst>
    <p:sldId id="256" r:id="rId2"/>
    <p:sldId id="603" r:id="rId3"/>
    <p:sldId id="617" r:id="rId4"/>
    <p:sldId id="618" r:id="rId5"/>
    <p:sldId id="619" r:id="rId6"/>
    <p:sldId id="624" r:id="rId7"/>
    <p:sldId id="625" r:id="rId8"/>
    <p:sldId id="620" r:id="rId9"/>
    <p:sldId id="621" r:id="rId10"/>
    <p:sldId id="622" r:id="rId11"/>
    <p:sldId id="626" r:id="rId12"/>
    <p:sldId id="627" r:id="rId13"/>
    <p:sldId id="628" r:id="rId14"/>
    <p:sldId id="629" r:id="rId15"/>
    <p:sldId id="630" r:id="rId16"/>
    <p:sldId id="631" r:id="rId17"/>
    <p:sldId id="632" r:id="rId18"/>
    <p:sldId id="61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024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2" autoAdjust="0"/>
    <p:restoredTop sz="79613" autoAdjust="0"/>
  </p:normalViewPr>
  <p:slideViewPr>
    <p:cSldViewPr>
      <p:cViewPr>
        <p:scale>
          <a:sx n="59" d="100"/>
          <a:sy n="59" d="100"/>
        </p:scale>
        <p:origin x="-156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AA103-FA6F-4BA7-85DB-ECB7FF89B451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B9102-ABC0-4B3D-8EF1-04366C9A6F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B9102-ABC0-4B3D-8EF1-04366C9A6F8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849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B9102-ABC0-4B3D-8EF1-04366C9A6F8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6D326B5-21D9-43FD-9A2C-7A209D1AB87B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44" y="4960203"/>
            <a:ext cx="9148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C000"/>
                </a:solidFill>
              </a:rPr>
              <a:t>Final</a:t>
            </a:r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0592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Class Presentations on Object Oriented Programming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						by 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Subhash</a:t>
            </a:r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Chand</a:t>
            </a:r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Agrawal</a:t>
            </a:r>
            <a:endParaRPr lang="en-US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281112" y="152400"/>
            <a:ext cx="7558088" cy="99060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cap="none" dirty="0" smtClean="0">
                <a:solidFill>
                  <a:schemeClr val="tx1"/>
                </a:solidFill>
                <a:latin typeface="Berlin Sans FB Demi" pitchFamily="34" charset="0"/>
                <a:ea typeface="ＭＳ Ｐゴシック"/>
                <a:cs typeface="ＭＳ Ｐゴシック"/>
              </a:rPr>
              <a:t>Object Oriented Programming</a:t>
            </a:r>
          </a:p>
        </p:txBody>
      </p:sp>
      <p:pic>
        <p:nvPicPr>
          <p:cNvPr id="1029" name="Picture 5" descr="What is OOP (Object-Oriented Programming)?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00200"/>
            <a:ext cx="4724400" cy="3409951"/>
          </a:xfrm>
          <a:prstGeom prst="rect">
            <a:avLst/>
          </a:prstGeom>
          <a:noFill/>
        </p:spPr>
      </p:pic>
      <p:sp>
        <p:nvSpPr>
          <p:cNvPr id="16386" name="AutoShape 2" descr="GLA University, Mathura: Courses, Fees, Placements, Ranking ..."/>
          <p:cNvSpPr>
            <a:spLocks noChangeAspect="1" noChangeArrowheads="1"/>
          </p:cNvSpPr>
          <p:nvPr/>
        </p:nvSpPr>
        <p:spPr bwMode="auto">
          <a:xfrm>
            <a:off x="155575" y="-852488"/>
            <a:ext cx="1819275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8" name="AutoShape 4" descr="GLA University, Mathura: Courses, Fees, Placements, Ranking ..."/>
          <p:cNvSpPr>
            <a:spLocks noChangeAspect="1" noChangeArrowheads="1"/>
          </p:cNvSpPr>
          <p:nvPr/>
        </p:nvSpPr>
        <p:spPr bwMode="auto">
          <a:xfrm>
            <a:off x="155575" y="-852488"/>
            <a:ext cx="1819275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90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4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6556248" cy="990600"/>
          </a:xfrm>
        </p:spPr>
        <p:txBody>
          <a:bodyPr/>
          <a:lstStyle/>
          <a:p>
            <a:r>
              <a:rPr lang="en-US" dirty="0" smtClean="0"/>
              <a:t>Final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b="1" dirty="0" smtClean="0"/>
              <a:t>final keyword</a:t>
            </a:r>
            <a:r>
              <a:rPr lang="en-US" dirty="0" smtClean="0"/>
              <a:t> in java is used to restrict the user. </a:t>
            </a:r>
          </a:p>
          <a:p>
            <a:pPr algn="just"/>
            <a:r>
              <a:rPr lang="en-US" dirty="0" smtClean="0"/>
              <a:t>The java final keyword can be used in many context. </a:t>
            </a:r>
          </a:p>
          <a:p>
            <a:pPr algn="just"/>
            <a:r>
              <a:rPr lang="en-US" dirty="0" smtClean="0"/>
              <a:t>Final can be:</a:t>
            </a:r>
          </a:p>
          <a:p>
            <a:pPr lvl="1"/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method</a:t>
            </a:r>
          </a:p>
          <a:p>
            <a:pPr lvl="1"/>
            <a:r>
              <a:rPr lang="en-US" dirty="0" smtClean="0"/>
              <a:t>class</a:t>
            </a:r>
          </a:p>
          <a:p>
            <a:pPr algn="just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75773"/>
            <a:ext cx="1097280" cy="114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3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7394448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1) Java final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If you make any variable as final, you cannot change the value of final variable(It will be constant).</a:t>
            </a:r>
          </a:p>
          <a:p>
            <a:pPr>
              <a:buNone/>
            </a:pPr>
            <a:r>
              <a:rPr lang="en-US" dirty="0" smtClean="0"/>
              <a:t>public class car{  </a:t>
            </a:r>
          </a:p>
          <a:p>
            <a:pPr>
              <a:buNone/>
            </a:pPr>
            <a:r>
              <a:rPr lang="en-US" dirty="0" smtClean="0"/>
              <a:t>     final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speedlimit</a:t>
            </a:r>
            <a:r>
              <a:rPr lang="en-US" dirty="0" smtClean="0"/>
              <a:t>=120;</a:t>
            </a:r>
          </a:p>
          <a:p>
            <a:pPr>
              <a:buNone/>
            </a:pPr>
            <a:r>
              <a:rPr lang="en-US" dirty="0" smtClean="0"/>
              <a:t>     void run(){  </a:t>
            </a:r>
          </a:p>
          <a:p>
            <a:pPr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speedlimit</a:t>
            </a:r>
            <a:r>
              <a:rPr lang="en-US" dirty="0" smtClean="0"/>
              <a:t>=400;  </a:t>
            </a:r>
          </a:p>
          <a:p>
            <a:pPr>
              <a:buNone/>
            </a:pPr>
            <a:r>
              <a:rPr lang="en" dirty="0" smtClean="0"/>
              <a:t>     }  </a:t>
            </a:r>
          </a:p>
          <a:p>
            <a:pPr>
              <a:buNone/>
            </a:pPr>
            <a:r>
              <a:rPr lang="en-US" dirty="0" smtClean="0"/>
              <a:t>  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 </a:t>
            </a:r>
          </a:p>
          <a:p>
            <a:pPr>
              <a:buNone/>
            </a:pPr>
            <a:r>
              <a:rPr lang="en-US" dirty="0" smtClean="0"/>
              <a:t>     car </a:t>
            </a:r>
            <a:r>
              <a:rPr lang="en-US" dirty="0" err="1" smtClean="0"/>
              <a:t>obj</a:t>
            </a:r>
            <a:r>
              <a:rPr lang="en-US" dirty="0" smtClean="0"/>
              <a:t>=new  car();  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obj.run</a:t>
            </a:r>
            <a:r>
              <a:rPr lang="en-US" dirty="0" smtClean="0"/>
              <a:t>();  </a:t>
            </a:r>
          </a:p>
          <a:p>
            <a:pPr>
              <a:buNone/>
            </a:pPr>
            <a:r>
              <a:rPr lang="en" dirty="0" smtClean="0"/>
              <a:t>     }  </a:t>
            </a:r>
          </a:p>
          <a:p>
            <a:pPr>
              <a:buNone/>
            </a:pPr>
            <a:r>
              <a:rPr lang="en" dirty="0" smtClean="0"/>
              <a:t>    }</a:t>
            </a:r>
          </a:p>
          <a:p>
            <a:pPr algn="just">
              <a:buNone/>
            </a:pPr>
            <a:endParaRPr lang="en-US" dirty="0"/>
          </a:p>
        </p:txBody>
      </p:sp>
      <p:pic>
        <p:nvPicPr>
          <p:cNvPr id="4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590800" y="5029200"/>
            <a:ext cx="60198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/car.java:4: error: cannot assign a value to final variable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     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r>
              <a:rPr lang="en-US" sz="2400" dirty="0" smtClean="0">
                <a:solidFill>
                  <a:schemeClr val="tx1"/>
                </a:solidFill>
              </a:rPr>
              <a:t>=400;  </a:t>
            </a:r>
          </a:p>
          <a:p>
            <a:r>
              <a:rPr lang="en" sz="2400" dirty="0" smtClean="0">
                <a:solidFill>
                  <a:schemeClr val="tx1"/>
                </a:solidFill>
              </a:rPr>
              <a:t>      ^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7089648" cy="990600"/>
          </a:xfrm>
        </p:spPr>
        <p:txBody>
          <a:bodyPr/>
          <a:lstStyle/>
          <a:p>
            <a:r>
              <a:rPr lang="en-US" dirty="0" smtClean="0"/>
              <a:t>What will be the output?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public class car{  </a:t>
            </a:r>
          </a:p>
          <a:p>
            <a:pPr>
              <a:buNone/>
            </a:pPr>
            <a:r>
              <a:rPr lang="en-US" sz="2400" dirty="0" smtClean="0"/>
              <a:t>    final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speedlimit</a:t>
            </a:r>
            <a:r>
              <a:rPr lang="en-US" sz="2400" dirty="0" smtClean="0"/>
              <a:t>;</a:t>
            </a:r>
          </a:p>
          <a:p>
            <a:pPr>
              <a:buNone/>
            </a:pPr>
            <a:r>
              <a:rPr lang="en-US" sz="2400" dirty="0" smtClean="0"/>
              <a:t>    public static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  </a:t>
            </a:r>
          </a:p>
          <a:p>
            <a:pPr>
              <a:buNone/>
            </a:pPr>
            <a:r>
              <a:rPr lang="en-US" sz="2400" dirty="0" smtClean="0"/>
              <a:t>     car </a:t>
            </a:r>
            <a:r>
              <a:rPr lang="en-US" sz="2400" dirty="0" err="1" smtClean="0"/>
              <a:t>obj</a:t>
            </a:r>
            <a:r>
              <a:rPr lang="en-US" sz="2400" dirty="0" smtClean="0"/>
              <a:t>=new  car();  </a:t>
            </a:r>
          </a:p>
          <a:p>
            <a:pPr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obj.speedlimit</a:t>
            </a:r>
            <a:r>
              <a:rPr lang="en-US" sz="2400" dirty="0" smtClean="0"/>
              <a:t>);</a:t>
            </a:r>
          </a:p>
          <a:p>
            <a:pPr>
              <a:buNone/>
            </a:pPr>
            <a:r>
              <a:rPr lang="en" sz="2400" dirty="0" smtClean="0"/>
              <a:t>     }  </a:t>
            </a:r>
          </a:p>
          <a:p>
            <a:pPr>
              <a:buNone/>
            </a:pPr>
            <a:r>
              <a:rPr lang="en" sz="2400" dirty="0" smtClean="0"/>
              <a:t>    }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752600" y="4191000"/>
            <a:ext cx="71628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car.java:2: error: variable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r>
              <a:rPr lang="en-US" sz="2400" dirty="0" smtClean="0">
                <a:solidFill>
                  <a:schemeClr val="tx1"/>
                </a:solidFill>
              </a:rPr>
              <a:t> not initialized in the default constructor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    final </a:t>
            </a:r>
            <a:r>
              <a:rPr lang="en-US" sz="2400" dirty="0" err="1" smtClean="0">
                <a:solidFill>
                  <a:schemeClr val="tx1"/>
                </a:solidFill>
              </a:rPr>
              <a:t>int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r>
              <a:rPr lang="en-US" sz="2400" dirty="0" smtClean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0" y="1828800"/>
            <a:ext cx="3276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car() {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r>
              <a:rPr lang="en-US" sz="2400" dirty="0" smtClean="0">
                <a:solidFill>
                  <a:schemeClr val="tx1"/>
                </a:solidFill>
              </a:rPr>
              <a:t>=100;}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7089648" cy="990600"/>
          </a:xfrm>
        </p:spPr>
        <p:txBody>
          <a:bodyPr/>
          <a:lstStyle/>
          <a:p>
            <a:r>
              <a:rPr lang="en-US" dirty="0" smtClean="0"/>
              <a:t>What will be the output?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/>
          </a:bodyPr>
          <a:lstStyle/>
          <a:p>
            <a:r>
              <a:rPr lang="en-US" sz="2500" dirty="0" smtClean="0"/>
              <a:t>public class car{  </a:t>
            </a:r>
          </a:p>
          <a:p>
            <a:r>
              <a:rPr lang="en-US" sz="2500" dirty="0" smtClean="0"/>
              <a:t>    final </a:t>
            </a:r>
            <a:r>
              <a:rPr lang="en-US" sz="2500" dirty="0" err="1" smtClean="0"/>
              <a:t>int</a:t>
            </a:r>
            <a:r>
              <a:rPr lang="en-US" sz="2500" dirty="0" smtClean="0"/>
              <a:t> </a:t>
            </a:r>
            <a:r>
              <a:rPr lang="en-US" sz="2500" dirty="0" err="1" smtClean="0"/>
              <a:t>speedlimit</a:t>
            </a:r>
            <a:r>
              <a:rPr lang="en-US" sz="2500" dirty="0" smtClean="0"/>
              <a:t>;</a:t>
            </a:r>
          </a:p>
          <a:p>
            <a:r>
              <a:rPr lang="en-US" sz="2500" dirty="0" smtClean="0"/>
              <a:t>    void input(){</a:t>
            </a:r>
            <a:r>
              <a:rPr lang="en-US" sz="2500" dirty="0" err="1" smtClean="0"/>
              <a:t>speedlimit</a:t>
            </a:r>
            <a:r>
              <a:rPr lang="en-US" sz="2500" dirty="0" smtClean="0"/>
              <a:t>=10;}</a:t>
            </a:r>
          </a:p>
          <a:p>
            <a:r>
              <a:rPr lang="en-US" sz="2500" dirty="0" smtClean="0"/>
              <a:t>    public static void main(String </a:t>
            </a:r>
            <a:r>
              <a:rPr lang="en-US" sz="2500" dirty="0" err="1" smtClean="0"/>
              <a:t>args</a:t>
            </a:r>
            <a:r>
              <a:rPr lang="en-US" sz="2500" dirty="0" smtClean="0"/>
              <a:t>[]){  </a:t>
            </a:r>
          </a:p>
          <a:p>
            <a:r>
              <a:rPr lang="en-US" sz="2500" dirty="0" smtClean="0"/>
              <a:t>     car </a:t>
            </a:r>
            <a:r>
              <a:rPr lang="en-US" sz="2500" dirty="0" err="1" smtClean="0"/>
              <a:t>obj</a:t>
            </a:r>
            <a:r>
              <a:rPr lang="en-US" sz="2500" dirty="0" smtClean="0"/>
              <a:t>=new  car();  </a:t>
            </a:r>
          </a:p>
          <a:p>
            <a:r>
              <a:rPr lang="en-US" sz="2500" dirty="0" smtClean="0"/>
              <a:t>     </a:t>
            </a:r>
            <a:r>
              <a:rPr lang="en-US" sz="2500" dirty="0" err="1" smtClean="0"/>
              <a:t>obj.input</a:t>
            </a:r>
            <a:r>
              <a:rPr lang="en-US" sz="2500" dirty="0" smtClean="0"/>
              <a:t>();</a:t>
            </a:r>
          </a:p>
          <a:p>
            <a:r>
              <a:rPr lang="en-US" sz="2500" dirty="0" smtClean="0"/>
              <a:t>    </a:t>
            </a:r>
            <a:r>
              <a:rPr lang="en-US" sz="2500" dirty="0" err="1" smtClean="0"/>
              <a:t>System.out.println</a:t>
            </a:r>
            <a:r>
              <a:rPr lang="en-US" sz="2500" dirty="0" smtClean="0"/>
              <a:t>(</a:t>
            </a:r>
            <a:r>
              <a:rPr lang="en-US" sz="2500" dirty="0" err="1" smtClean="0"/>
              <a:t>obj.speedlimit</a:t>
            </a:r>
            <a:r>
              <a:rPr lang="en-US" sz="2500" dirty="0" smtClean="0"/>
              <a:t>);</a:t>
            </a:r>
          </a:p>
          <a:p>
            <a:r>
              <a:rPr lang="en" sz="2500" dirty="0" smtClean="0"/>
              <a:t>     }  </a:t>
            </a:r>
          </a:p>
          <a:p>
            <a:r>
              <a:rPr lang="en" sz="2500" dirty="0" smtClean="0"/>
              <a:t>    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28800" y="5105400"/>
            <a:ext cx="7162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car.java:3: error: cannot assign a value to final variable 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    void input(){</a:t>
            </a:r>
            <a:r>
              <a:rPr lang="en-US" sz="2400" dirty="0" err="1" smtClean="0">
                <a:solidFill>
                  <a:schemeClr val="tx1"/>
                </a:solidFill>
              </a:rPr>
              <a:t>speedlimit</a:t>
            </a:r>
            <a:r>
              <a:rPr lang="en-US" sz="2400" dirty="0" smtClean="0">
                <a:solidFill>
                  <a:schemeClr val="tx1"/>
                </a:solidFill>
              </a:rPr>
              <a:t>=10;}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pic>
        <p:nvPicPr>
          <p:cNvPr id="6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318248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static blank final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A static final variable that is not initialized at the time of declaration is known as static blank final variable. </a:t>
            </a:r>
          </a:p>
          <a:p>
            <a:pPr algn="just"/>
            <a:r>
              <a:rPr lang="en-US" dirty="0" smtClean="0"/>
              <a:t>It can be initialized only in static block.</a:t>
            </a:r>
          </a:p>
          <a:p>
            <a:pPr algn="just"/>
            <a:endParaRPr lang="en-US" dirty="0" smtClean="0"/>
          </a:p>
          <a:p>
            <a:r>
              <a:rPr lang="en-US" dirty="0" smtClean="0"/>
              <a:t>public class A{  </a:t>
            </a:r>
          </a:p>
          <a:p>
            <a:r>
              <a:rPr lang="en-US" dirty="0" smtClean="0"/>
              <a:t>      static final 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</a:p>
          <a:p>
            <a:r>
              <a:rPr lang="en-US" dirty="0" smtClean="0"/>
              <a:t>      static{ data=50;}  </a:t>
            </a:r>
          </a:p>
          <a:p>
            <a:r>
              <a:rPr lang="en-US" dirty="0" smtClean="0"/>
              <a:t>   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 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A.data</a:t>
            </a:r>
            <a:r>
              <a:rPr lang="en-US" dirty="0" smtClean="0"/>
              <a:t>);  </a:t>
            </a:r>
          </a:p>
          <a:p>
            <a:r>
              <a:rPr lang="en" dirty="0" smtClean="0"/>
              <a:t>     }  </a:t>
            </a:r>
          </a:p>
          <a:p>
            <a:r>
              <a:rPr lang="en" dirty="0" smtClean="0"/>
              <a:t>    }  </a:t>
            </a:r>
            <a:endParaRPr lang="en-US" dirty="0"/>
          </a:p>
        </p:txBody>
      </p:sp>
      <p:pic>
        <p:nvPicPr>
          <p:cNvPr id="4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7394448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Can we declare a constructor final?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153400" cy="4495800"/>
          </a:xfrm>
        </p:spPr>
        <p:txBody>
          <a:bodyPr/>
          <a:lstStyle/>
          <a:p>
            <a:r>
              <a:rPr lang="en-US" dirty="0" smtClean="0"/>
              <a:t>No, because constructor is never inherited.</a:t>
            </a:r>
          </a:p>
          <a:p>
            <a:endParaRPr lang="en-US" dirty="0"/>
          </a:p>
        </p:txBody>
      </p:sp>
      <p:pic>
        <p:nvPicPr>
          <p:cNvPr id="4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7242048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2) Java final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If you make any method as final, you cannot override it.</a:t>
            </a:r>
          </a:p>
          <a:p>
            <a:r>
              <a:rPr lang="en-US" sz="2600" dirty="0" smtClean="0"/>
              <a:t>class Vehicle{  </a:t>
            </a:r>
          </a:p>
          <a:p>
            <a:r>
              <a:rPr lang="en-US" sz="2600" dirty="0" smtClean="0"/>
              <a:t>       final void run(){</a:t>
            </a:r>
            <a:r>
              <a:rPr lang="en-US" sz="2600" dirty="0" err="1" smtClean="0"/>
              <a:t>System.out.println</a:t>
            </a:r>
            <a:r>
              <a:rPr lang="en-US" sz="2600" dirty="0" smtClean="0"/>
              <a:t>("running");}  </a:t>
            </a:r>
          </a:p>
          <a:p>
            <a:r>
              <a:rPr lang="en" sz="2600" dirty="0" smtClean="0"/>
              <a:t>    }  </a:t>
            </a:r>
          </a:p>
          <a:p>
            <a:r>
              <a:rPr lang="en" sz="2600" dirty="0" smtClean="0"/>
              <a:t> </a:t>
            </a:r>
            <a:r>
              <a:rPr lang="en-US" sz="2600" dirty="0" smtClean="0"/>
              <a:t>public class </a:t>
            </a:r>
            <a:r>
              <a:rPr lang="en-US" sz="2600" dirty="0" err="1" smtClean="0"/>
              <a:t>Maruti</a:t>
            </a:r>
            <a:r>
              <a:rPr lang="en-US" sz="2600" dirty="0" smtClean="0"/>
              <a:t> extends Vehicle{  </a:t>
            </a:r>
          </a:p>
          <a:p>
            <a:r>
              <a:rPr lang="en-US" sz="2600" dirty="0" smtClean="0"/>
              <a:t> void run(){</a:t>
            </a:r>
            <a:r>
              <a:rPr lang="en-US" sz="2600" dirty="0" err="1" smtClean="0"/>
              <a:t>System.out.println</a:t>
            </a:r>
            <a:r>
              <a:rPr lang="en-US" sz="2600" dirty="0" smtClean="0"/>
              <a:t>("running safely with 100kmph");}  </a:t>
            </a:r>
          </a:p>
          <a:p>
            <a:r>
              <a:rPr lang="en" sz="2600" dirty="0" smtClean="0"/>
              <a:t>       </a:t>
            </a:r>
            <a:r>
              <a:rPr lang="en-US" sz="2600" dirty="0" smtClean="0"/>
              <a:t>public static void main(String </a:t>
            </a:r>
            <a:r>
              <a:rPr lang="en-US" sz="2600" dirty="0" err="1" smtClean="0"/>
              <a:t>args</a:t>
            </a:r>
            <a:r>
              <a:rPr lang="en-US" sz="2600" dirty="0" smtClean="0"/>
              <a:t>[]){  </a:t>
            </a:r>
          </a:p>
          <a:p>
            <a:r>
              <a:rPr lang="en-US" sz="2600" dirty="0" smtClean="0"/>
              <a:t>     </a:t>
            </a:r>
            <a:r>
              <a:rPr lang="en-US" sz="2600" dirty="0" err="1" smtClean="0"/>
              <a:t>Maruti</a:t>
            </a:r>
            <a:r>
              <a:rPr lang="en-US" sz="2600" dirty="0" smtClean="0"/>
              <a:t> m= new </a:t>
            </a:r>
            <a:r>
              <a:rPr lang="en-US" sz="2600" dirty="0" err="1" smtClean="0"/>
              <a:t>Maruti</a:t>
            </a:r>
            <a:r>
              <a:rPr lang="en-US" sz="2600" dirty="0" smtClean="0"/>
              <a:t>();  </a:t>
            </a:r>
          </a:p>
          <a:p>
            <a:r>
              <a:rPr lang="en-US" sz="2600" dirty="0" smtClean="0"/>
              <a:t>       </a:t>
            </a:r>
            <a:r>
              <a:rPr lang="en-US" sz="2600" dirty="0" err="1" smtClean="0"/>
              <a:t>m.run</a:t>
            </a:r>
            <a:r>
              <a:rPr lang="en-US" sz="2600" dirty="0" smtClean="0"/>
              <a:t>();  </a:t>
            </a:r>
          </a:p>
          <a:p>
            <a:r>
              <a:rPr lang="en" sz="2600" dirty="0" smtClean="0"/>
              <a:t>       }  </a:t>
            </a:r>
          </a:p>
          <a:p>
            <a:r>
              <a:rPr lang="en" sz="2600" dirty="0" smtClean="0"/>
              <a:t>    }  </a:t>
            </a:r>
          </a:p>
          <a:p>
            <a:pPr algn="just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0" y="5791200"/>
            <a:ext cx="7162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Maruti.java:6: error: run() in </a:t>
            </a:r>
            <a:r>
              <a:rPr lang="en-US" sz="2400" dirty="0" err="1" smtClean="0">
                <a:solidFill>
                  <a:schemeClr val="tx1"/>
                </a:solidFill>
              </a:rPr>
              <a:t>Maruti</a:t>
            </a:r>
            <a:r>
              <a:rPr lang="en-US" sz="2400" dirty="0" smtClean="0">
                <a:solidFill>
                  <a:schemeClr val="tx1"/>
                </a:solidFill>
              </a:rPr>
              <a:t> cannot override run() in Vehicle</a:t>
            </a:r>
          </a:p>
        </p:txBody>
      </p:sp>
      <p:pic>
        <p:nvPicPr>
          <p:cNvPr id="5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318248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3) Java final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If you make any class as final, you cannot extend it.</a:t>
            </a:r>
          </a:p>
          <a:p>
            <a:r>
              <a:rPr lang="en-US" dirty="0" smtClean="0"/>
              <a:t>final class Vehicle{  </a:t>
            </a:r>
          </a:p>
          <a:p>
            <a:r>
              <a:rPr lang="en-US" dirty="0" smtClean="0"/>
              <a:t>     void run(){</a:t>
            </a:r>
            <a:r>
              <a:rPr lang="en-US" dirty="0" err="1" smtClean="0"/>
              <a:t>System.out.println</a:t>
            </a:r>
            <a:r>
              <a:rPr lang="en-US" dirty="0" smtClean="0"/>
              <a:t>("running");}  </a:t>
            </a:r>
          </a:p>
          <a:p>
            <a:r>
              <a:rPr lang="en" dirty="0" smtClean="0"/>
              <a:t>    }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Maruti</a:t>
            </a:r>
            <a:r>
              <a:rPr lang="en-US" dirty="0" smtClean="0"/>
              <a:t> extends Vehicle{  </a:t>
            </a:r>
          </a:p>
          <a:p>
            <a:pPr>
              <a:buNone/>
            </a:pPr>
            <a:r>
              <a:rPr lang="en-US" dirty="0" smtClean="0"/>
              <a:t> void run(){</a:t>
            </a:r>
            <a:r>
              <a:rPr lang="en-US" dirty="0" err="1" smtClean="0"/>
              <a:t>System.out.println</a:t>
            </a:r>
            <a:r>
              <a:rPr lang="en-US" dirty="0" smtClean="0"/>
              <a:t>("running safely with 100kmph");}  </a:t>
            </a:r>
          </a:p>
          <a:p>
            <a:r>
              <a:rPr lang="en" dirty="0" smtClean="0"/>
              <a:t>    </a:t>
            </a:r>
            <a:r>
              <a:rPr lang="en-US" dirty="0" smtClean="0"/>
              <a:t>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 </a:t>
            </a:r>
          </a:p>
          <a:p>
            <a:r>
              <a:rPr lang="en-US" dirty="0" smtClean="0"/>
              <a:t>     </a:t>
            </a:r>
            <a:r>
              <a:rPr lang="en-US" dirty="0" err="1" smtClean="0"/>
              <a:t>Maruti</a:t>
            </a:r>
            <a:r>
              <a:rPr lang="en-US" dirty="0" smtClean="0"/>
              <a:t> m= new </a:t>
            </a:r>
            <a:r>
              <a:rPr lang="en-US" dirty="0" err="1" smtClean="0"/>
              <a:t>Maruti</a:t>
            </a:r>
            <a:r>
              <a:rPr lang="en-US" dirty="0" smtClean="0"/>
              <a:t>();  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m.run</a:t>
            </a:r>
            <a:r>
              <a:rPr lang="en-US" dirty="0" smtClean="0"/>
              <a:t>();  </a:t>
            </a:r>
          </a:p>
          <a:p>
            <a:r>
              <a:rPr lang="en" dirty="0" smtClean="0"/>
              <a:t>       }  </a:t>
            </a:r>
          </a:p>
          <a:p>
            <a:r>
              <a:rPr lang="en" dirty="0" smtClean="0"/>
              <a:t>    }  </a:t>
            </a:r>
          </a:p>
          <a:p>
            <a:pPr algn="just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0" y="5791200"/>
            <a:ext cx="7162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error: cannot inherit from final Vehicle</a:t>
            </a:r>
          </a:p>
        </p:txBody>
      </p:sp>
      <p:pic>
        <p:nvPicPr>
          <p:cNvPr id="5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318248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Is final method inherited?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class Vehicle{  </a:t>
            </a:r>
          </a:p>
          <a:p>
            <a:r>
              <a:rPr lang="en-US" dirty="0" smtClean="0"/>
              <a:t>       final void run(){</a:t>
            </a:r>
            <a:r>
              <a:rPr lang="en-US" dirty="0" err="1" smtClean="0"/>
              <a:t>System.out.println</a:t>
            </a:r>
            <a:r>
              <a:rPr lang="en-US" dirty="0" smtClean="0"/>
              <a:t>("running");}  </a:t>
            </a:r>
          </a:p>
          <a:p>
            <a:r>
              <a:rPr lang="en" dirty="0" smtClean="0"/>
              <a:t>    }  </a:t>
            </a:r>
          </a:p>
          <a:p>
            <a:r>
              <a:rPr lang="en-US" dirty="0" smtClean="0"/>
              <a:t>    public class </a:t>
            </a:r>
            <a:r>
              <a:rPr lang="en-US" dirty="0" err="1" smtClean="0"/>
              <a:t>Maruti</a:t>
            </a:r>
            <a:r>
              <a:rPr lang="en-US" dirty="0" smtClean="0"/>
              <a:t> extends Vehicle{ </a:t>
            </a:r>
          </a:p>
          <a:p>
            <a:r>
              <a:rPr lang="en-US" dirty="0" smtClean="0"/>
              <a:t> 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 </a:t>
            </a:r>
          </a:p>
          <a:p>
            <a:r>
              <a:rPr lang="en-US" dirty="0" smtClean="0"/>
              <a:t>     </a:t>
            </a:r>
            <a:r>
              <a:rPr lang="en-US" dirty="0" err="1" smtClean="0"/>
              <a:t>Maruti</a:t>
            </a:r>
            <a:r>
              <a:rPr lang="en-US" dirty="0" smtClean="0"/>
              <a:t> m= new </a:t>
            </a:r>
            <a:r>
              <a:rPr lang="en-US" dirty="0" err="1" smtClean="0"/>
              <a:t>Maruti</a:t>
            </a:r>
            <a:r>
              <a:rPr lang="en-US" dirty="0" smtClean="0"/>
              <a:t>();  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m.run</a:t>
            </a:r>
            <a:r>
              <a:rPr lang="en-US" dirty="0" smtClean="0"/>
              <a:t>();  </a:t>
            </a:r>
          </a:p>
          <a:p>
            <a:r>
              <a:rPr lang="en" dirty="0" smtClean="0"/>
              <a:t>       }  </a:t>
            </a:r>
          </a:p>
          <a:p>
            <a:r>
              <a:rPr lang="en" dirty="0" smtClean="0"/>
              <a:t>    }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7162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Yes, final method is inherited but you cannot override it.</a:t>
            </a:r>
          </a:p>
        </p:txBody>
      </p:sp>
      <p:pic>
        <p:nvPicPr>
          <p:cNvPr id="5" name="Picture 6" descr="GLA University, Mathura: Courses, Fees, Placements, Ranking ..."/>
          <p:cNvPicPr>
            <a:picLocks noChangeAspect="1" noChangeArrowheads="1"/>
          </p:cNvPicPr>
          <p:nvPr/>
        </p:nvPicPr>
        <p:blipFill>
          <a:blip r:embed="rId2" cstate="print"/>
          <a:srcRect t="22325" b="18140"/>
          <a:stretch>
            <a:fillRect/>
          </a:stretch>
        </p:blipFill>
        <p:spPr bwMode="auto">
          <a:xfrm>
            <a:off x="0" y="0"/>
            <a:ext cx="13716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option is false about the </a:t>
            </a:r>
            <a:r>
              <a:rPr lang="en-US" i="1" dirty="0" smtClean="0"/>
              <a:t>final</a:t>
            </a:r>
            <a:r>
              <a:rPr lang="en-US" dirty="0" smtClean="0"/>
              <a:t> keyword?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 </a:t>
            </a:r>
            <a:r>
              <a:rPr lang="en-US" i="1" dirty="0" smtClean="0"/>
              <a:t>final</a:t>
            </a:r>
            <a:r>
              <a:rPr lang="en-US" dirty="0" smtClean="0"/>
              <a:t> method cannot be overridden in its subclasses.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 </a:t>
            </a:r>
            <a:r>
              <a:rPr lang="en-US" i="1" dirty="0" smtClean="0"/>
              <a:t>final</a:t>
            </a:r>
            <a:r>
              <a:rPr lang="en-US" dirty="0" smtClean="0"/>
              <a:t> class cannot be extended.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 </a:t>
            </a:r>
            <a:r>
              <a:rPr lang="en-US" i="1" dirty="0" smtClean="0"/>
              <a:t>final</a:t>
            </a:r>
            <a:r>
              <a:rPr lang="en-US" dirty="0" smtClean="0"/>
              <a:t> class cannot extend other classes.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smtClean="0"/>
              <a:t>A </a:t>
            </a:r>
            <a:r>
              <a:rPr lang="en-US" i="1" dirty="0" smtClean="0"/>
              <a:t>final</a:t>
            </a:r>
            <a:r>
              <a:rPr lang="en-US" dirty="0" smtClean="0"/>
              <a:t> method can be inherited.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err="1" smtClean="0"/>
              <a:t>Ans</a:t>
            </a:r>
            <a:r>
              <a:rPr lang="en-US" dirty="0" smtClean="0"/>
              <a:t>: 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following does not have a body?</a:t>
            </a:r>
          </a:p>
          <a:p>
            <a:r>
              <a:rPr lang="en-US" dirty="0" smtClean="0"/>
              <a:t>An Interface</a:t>
            </a:r>
          </a:p>
          <a:p>
            <a:r>
              <a:rPr lang="en-US" dirty="0" smtClean="0"/>
              <a:t>An Abstract Method</a:t>
            </a:r>
          </a:p>
          <a:p>
            <a:r>
              <a:rPr lang="en-US" dirty="0" smtClean="0"/>
              <a:t>A Class</a:t>
            </a:r>
          </a:p>
          <a:p>
            <a:r>
              <a:rPr lang="en-US" dirty="0" smtClean="0"/>
              <a:t>none of above</a:t>
            </a:r>
          </a:p>
          <a:p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: An Abstract Method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public class '</a:t>
            </a:r>
            <a:r>
              <a:rPr lang="en-US" dirty="0" err="1" smtClean="0"/>
              <a:t>MyFirst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err="1" smtClean="0"/>
              <a:t>MyFirst</a:t>
            </a:r>
            <a:r>
              <a:rPr lang="en-US" dirty="0" smtClean="0"/>
              <a:t> </a:t>
            </a:r>
            <a:r>
              <a:rPr lang="en-US" dirty="0" err="1" smtClean="0"/>
              <a:t>obj</a:t>
            </a:r>
            <a:r>
              <a:rPr lang="en-US" dirty="0" smtClean="0"/>
              <a:t> = new </a:t>
            </a:r>
            <a:r>
              <a:rPr lang="en-US" dirty="0" err="1" smtClean="0"/>
              <a:t>MyFirst</a:t>
            </a:r>
            <a:r>
              <a:rPr lang="en-US" smtClean="0"/>
              <a:t>(10);</a:t>
            </a:r>
            <a:endParaRPr lang="en-US" dirty="0" smtClean="0"/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static </a:t>
            </a:r>
            <a:r>
              <a:rPr lang="en-US" dirty="0" err="1" smtClean="0"/>
              <a:t>int</a:t>
            </a:r>
            <a:r>
              <a:rPr lang="en-US" dirty="0" smtClean="0"/>
              <a:t> a = 10;</a:t>
            </a:r>
          </a:p>
          <a:p>
            <a:r>
              <a:rPr lang="en-US" dirty="0" smtClean="0"/>
              <a:t>static </a:t>
            </a:r>
            <a:r>
              <a:rPr lang="en-US" dirty="0" err="1" smtClean="0"/>
              <a:t>int</a:t>
            </a:r>
            <a:r>
              <a:rPr lang="en-US" dirty="0" smtClean="0"/>
              <a:t> n;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b = 5;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c;</a:t>
            </a:r>
          </a:p>
          <a:p>
            <a:r>
              <a:rPr lang="en-US" dirty="0" smtClean="0"/>
              <a:t>public </a:t>
            </a:r>
            <a:r>
              <a:rPr lang="en-US" dirty="0" err="1" smtClean="0"/>
              <a:t>MyFirst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m) {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(a + ", " + b + ", " + c + ", " + n + ", " + m);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67400" y="0"/>
            <a:ext cx="289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// Instance Block</a:t>
            </a:r>
          </a:p>
          <a:p>
            <a:r>
              <a:rPr lang="en-US" dirty="0" smtClean="0"/>
              <a:t>{</a:t>
            </a:r>
          </a:p>
          <a:p>
            <a:endParaRPr lang="en-US" dirty="0" smtClean="0"/>
          </a:p>
          <a:p>
            <a:r>
              <a:rPr lang="en-US" dirty="0" smtClean="0"/>
              <a:t>b = 30;</a:t>
            </a:r>
          </a:p>
          <a:p>
            <a:r>
              <a:rPr lang="en-US" dirty="0" smtClean="0"/>
              <a:t>n = 20;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// Static Block</a:t>
            </a:r>
          </a:p>
          <a:p>
            <a:r>
              <a:rPr lang="en-US" dirty="0" smtClean="0"/>
              <a:t>static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a = 60;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b="1" dirty="0" smtClean="0"/>
              <a:t>answer choices </a:t>
            </a:r>
          </a:p>
          <a:p>
            <a:r>
              <a:rPr lang="en-US" b="1" dirty="0" smtClean="0"/>
              <a:t>10, 5, 0, 20, 0</a:t>
            </a:r>
          </a:p>
          <a:p>
            <a:r>
              <a:rPr lang="en-US" b="1" dirty="0" smtClean="0"/>
              <a:t>10, 30, 20</a:t>
            </a:r>
          </a:p>
          <a:p>
            <a:r>
              <a:rPr lang="en-US" b="1" dirty="0" smtClean="0"/>
              <a:t>60, 5, 0, 20</a:t>
            </a:r>
          </a:p>
          <a:p>
            <a:r>
              <a:rPr lang="en-US" b="1" dirty="0" smtClean="0"/>
              <a:t>60, 30, 0, 20, 0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OperatorExample</a:t>
            </a:r>
            <a:r>
              <a:rPr lang="en-US" dirty="0" smtClean="0"/>
              <a:t>`{</a:t>
            </a:r>
          </a:p>
          <a:p>
            <a:r>
              <a:rPr lang="en-US" dirty="0" smtClean="0"/>
              <a:t>public static void main.(String </a:t>
            </a:r>
            <a:r>
              <a:rPr lang="en-US" dirty="0" err="1" smtClean="0"/>
              <a:t>args</a:t>
            </a:r>
            <a:r>
              <a:rPr lang="en-US" dirty="0" smtClean="0"/>
              <a:t>[]){</a:t>
            </a:r>
          </a:p>
          <a:p>
            <a:r>
              <a:rPr lang="en-US" dirty="0" err="1" smtClean="0"/>
              <a:t>System'.out.println</a:t>
            </a:r>
            <a:r>
              <a:rPr lang="en-US" dirty="0" smtClean="0"/>
              <a:t>(10&gt;&gt;2);</a:t>
            </a:r>
          </a:p>
          <a:p>
            <a:r>
              <a:rPr lang="en-US" dirty="0" smtClean="0"/>
              <a:t>System..</a:t>
            </a:r>
            <a:r>
              <a:rPr lang="en-US" dirty="0" err="1" smtClean="0"/>
              <a:t>out.println</a:t>
            </a:r>
            <a:r>
              <a:rPr lang="en-US" dirty="0" smtClean="0"/>
              <a:t>(20&gt;&gt;2):</a:t>
            </a:r>
          </a:p>
          <a:p>
            <a:r>
              <a:rPr lang="en-US" dirty="0" smtClean="0"/>
              <a:t>}}</a:t>
            </a:r>
          </a:p>
          <a:p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: 2 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public class A { </a:t>
            </a:r>
          </a:p>
          <a:p>
            <a:r>
              <a:rPr lang="en-US" dirty="0" smtClean="0"/>
              <a:t>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('h' + 'e' + 'l' + 'l' + 'o');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Which of the following declarations are invalid?</a:t>
            </a:r>
            <a:endParaRPr lang="en-US" dirty="0" smtClean="0"/>
          </a:p>
          <a:p>
            <a:r>
              <a:rPr lang="en-US" dirty="0" smtClean="0"/>
              <a:t>class Test3 {</a:t>
            </a:r>
          </a:p>
          <a:p>
            <a:r>
              <a:rPr lang="en-US" dirty="0" smtClean="0"/>
              <a:t>public</a:t>
            </a:r>
          </a:p>
          <a:p>
            <a:r>
              <a:rPr lang="en-US" dirty="0" smtClean="0"/>
              <a:t>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[][] arr1 = new </a:t>
            </a:r>
            <a:r>
              <a:rPr lang="en-US" dirty="0" err="1" smtClean="0"/>
              <a:t>int</a:t>
            </a:r>
            <a:r>
              <a:rPr lang="en-US" dirty="0" smtClean="0"/>
              <a:t>[2][3]; // Line 1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[][] arr2 = new </a:t>
            </a:r>
            <a:r>
              <a:rPr lang="en-US" dirty="0" err="1" smtClean="0"/>
              <a:t>int</a:t>
            </a:r>
            <a:r>
              <a:rPr lang="en-US" dirty="0" smtClean="0"/>
              <a:t>[2][]; // line 2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[][] arr3 = new </a:t>
            </a:r>
            <a:r>
              <a:rPr lang="en-US" dirty="0" err="1" smtClean="0"/>
              <a:t>int</a:t>
            </a:r>
            <a:r>
              <a:rPr lang="en-US" dirty="0" smtClean="0"/>
              <a:t>[][]; // line 3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[][] arr4 = new </a:t>
            </a:r>
            <a:r>
              <a:rPr lang="en-US" dirty="0" err="1" smtClean="0"/>
              <a:t>int</a:t>
            </a:r>
            <a:r>
              <a:rPr lang="en-US" dirty="0" smtClean="0"/>
              <a:t>[][2]; // line 4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public class </a:t>
            </a:r>
            <a:r>
              <a:rPr lang="en-US" dirty="0" err="1" smtClean="0"/>
              <a:t>MyClass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a=10;</a:t>
            </a:r>
          </a:p>
          <a:p>
            <a:r>
              <a:rPr lang="en-US" dirty="0" smtClean="0"/>
              <a:t>    static</a:t>
            </a:r>
          </a:p>
          <a:p>
            <a:r>
              <a:rPr lang="en" dirty="0" smtClean="0"/>
              <a:t>   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("Hello");</a:t>
            </a:r>
          </a:p>
          <a:p>
            <a:r>
              <a:rPr lang="en" dirty="0" smtClean="0"/>
              <a:t>    }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MyClass</a:t>
            </a:r>
            <a:r>
              <a:rPr lang="en-US" dirty="0" smtClean="0"/>
              <a:t>(){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System.out.println</a:t>
            </a:r>
            <a:r>
              <a:rPr lang="en-US" dirty="0" smtClean="0"/>
              <a:t>("Hello this is a constructor");</a:t>
            </a:r>
          </a:p>
          <a:p>
            <a:r>
              <a:rPr lang="en" dirty="0" smtClean="0"/>
              <a:t>   }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System.out.println</a:t>
            </a:r>
            <a:r>
              <a:rPr lang="en-US" dirty="0" smtClean="0"/>
              <a:t>(new </a:t>
            </a:r>
            <a:r>
              <a:rPr lang="en-US" dirty="0" err="1" smtClean="0"/>
              <a:t>MyClass</a:t>
            </a:r>
            <a:r>
              <a:rPr lang="en-US" dirty="0" smtClean="0"/>
              <a:t>().a);</a:t>
            </a:r>
            <a:r>
              <a:rPr lang="en" dirty="0" smtClean="0"/>
              <a:t> </a:t>
            </a:r>
          </a:p>
          <a:p>
            <a:r>
              <a:rPr lang="en" dirty="0" smtClean="0"/>
              <a:t>   }</a:t>
            </a:r>
          </a:p>
          <a:p>
            <a:r>
              <a:rPr lang="en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Thank You.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35237</TotalTime>
  <Words>907</Words>
  <Application>Microsoft Office PowerPoint</Application>
  <PresentationFormat>On-screen Show (4:3)</PresentationFormat>
  <Paragraphs>194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Median</vt:lpstr>
      <vt:lpstr>Slide 1</vt:lpstr>
      <vt:lpstr>Final</vt:lpstr>
      <vt:lpstr>1) Java final variable</vt:lpstr>
      <vt:lpstr>What will be the output?</vt:lpstr>
      <vt:lpstr>What will be the output?</vt:lpstr>
      <vt:lpstr>static blank final variable</vt:lpstr>
      <vt:lpstr>Can we declare a constructor final?</vt:lpstr>
      <vt:lpstr>2) Java final method</vt:lpstr>
      <vt:lpstr>3) Java final class</vt:lpstr>
      <vt:lpstr>Is final method inherited?</vt:lpstr>
      <vt:lpstr>Q1</vt:lpstr>
      <vt:lpstr>Q-2</vt:lpstr>
      <vt:lpstr>Q3</vt:lpstr>
      <vt:lpstr>Q4</vt:lpstr>
      <vt:lpstr>Q6</vt:lpstr>
      <vt:lpstr>Q7</vt:lpstr>
      <vt:lpstr>Q8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Processing</dc:title>
  <dc:creator>TANUJ</dc:creator>
  <cp:lastModifiedBy>glau</cp:lastModifiedBy>
  <cp:revision>664</cp:revision>
  <dcterms:created xsi:type="dcterms:W3CDTF">2011-06-11T07:20:39Z</dcterms:created>
  <dcterms:modified xsi:type="dcterms:W3CDTF">2021-09-21T06:58:02Z</dcterms:modified>
</cp:coreProperties>
</file>